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League Spartan" charset="1" panose="00000800000000000000"/>
      <p:regular r:id="rId18"/>
    </p:embeddedFont>
    <p:embeddedFont>
      <p:font typeface="Source Sans Pro Bold" charset="1" panose="020B0703030403020204"/>
      <p:regular r:id="rId19"/>
    </p:embeddedFont>
    <p:embeddedFont>
      <p:font typeface="Source Sans Pro" charset="1" panose="020B0503030403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jpe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6.png" Type="http://schemas.openxmlformats.org/officeDocument/2006/relationships/image"/><Relationship Id="rId7" Target="../media/image9.png" Type="http://schemas.openxmlformats.org/officeDocument/2006/relationships/image"/><Relationship Id="rId8" Target="../media/image10.jpeg" Type="http://schemas.openxmlformats.org/officeDocument/2006/relationships/image"/><Relationship Id="rId9" Target="../media/image1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6.png" Type="http://schemas.openxmlformats.org/officeDocument/2006/relationships/image"/><Relationship Id="rId8"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6.png" Type="http://schemas.openxmlformats.org/officeDocument/2006/relationships/image"/><Relationship Id="rId8" Target="../media/image1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false" rot="0">
            <a:off x="-1016" y="5979909"/>
            <a:ext cx="4804968" cy="4333207"/>
          </a:xfrm>
          <a:custGeom>
            <a:avLst/>
            <a:gdLst/>
            <a:ahLst/>
            <a:cxnLst/>
            <a:rect r="r" b="b" t="t" l="l"/>
            <a:pathLst>
              <a:path h="4333207" w="4804968">
                <a:moveTo>
                  <a:pt x="0" y="0"/>
                </a:moveTo>
                <a:lnTo>
                  <a:pt x="4804968" y="0"/>
                </a:lnTo>
                <a:lnTo>
                  <a:pt x="4804968" y="4333207"/>
                </a:lnTo>
                <a:lnTo>
                  <a:pt x="0" y="43332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203368" y="3070066"/>
            <a:ext cx="15881263" cy="5792688"/>
          </a:xfrm>
          <a:prstGeom prst="rect">
            <a:avLst/>
          </a:prstGeom>
        </p:spPr>
        <p:txBody>
          <a:bodyPr anchor="t" rtlCol="false" tIns="0" lIns="0" bIns="0" rIns="0">
            <a:spAutoFit/>
          </a:bodyPr>
          <a:lstStyle/>
          <a:p>
            <a:pPr algn="ctr">
              <a:lnSpc>
                <a:spcPts val="9139"/>
              </a:lnSpc>
            </a:pPr>
            <a:r>
              <a:rPr lang="en-US" sz="7311">
                <a:solidFill>
                  <a:srgbClr val="005359"/>
                </a:solidFill>
                <a:latin typeface="League Spartan"/>
                <a:ea typeface="League Spartan"/>
                <a:cs typeface="League Spartan"/>
                <a:sym typeface="League Spartan"/>
              </a:rPr>
              <a:t>EFEEDER: SISTEM PEMBERI PAKAN OTOMATIS BERBASIS IOT DENGAN KONTROL VIA TELEGRAM</a:t>
            </a:r>
          </a:p>
          <a:p>
            <a:pPr algn="ctr">
              <a:lnSpc>
                <a:spcPts val="9139"/>
              </a:lnSpc>
            </a:pPr>
          </a:p>
        </p:txBody>
      </p:sp>
      <p:sp>
        <p:nvSpPr>
          <p:cNvPr name="Freeform 5" id="5"/>
          <p:cNvSpPr/>
          <p:nvPr/>
        </p:nvSpPr>
        <p:spPr>
          <a:xfrm flipH="true" flipV="true" rot="0">
            <a:off x="16182578" y="8582145"/>
            <a:ext cx="1511485" cy="1409460"/>
          </a:xfrm>
          <a:custGeom>
            <a:avLst/>
            <a:gdLst/>
            <a:ahLst/>
            <a:cxnLst/>
            <a:rect r="r" b="b" t="t" l="l"/>
            <a:pathLst>
              <a:path h="1409460" w="1511485">
                <a:moveTo>
                  <a:pt x="1511486" y="1409460"/>
                </a:moveTo>
                <a:lnTo>
                  <a:pt x="0" y="1409460"/>
                </a:lnTo>
                <a:lnTo>
                  <a:pt x="0" y="0"/>
                </a:lnTo>
                <a:lnTo>
                  <a:pt x="1511486" y="0"/>
                </a:lnTo>
                <a:lnTo>
                  <a:pt x="1511486" y="140946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13487870" y="-26013"/>
            <a:ext cx="4800130" cy="4328844"/>
          </a:xfrm>
          <a:custGeom>
            <a:avLst/>
            <a:gdLst/>
            <a:ahLst/>
            <a:cxnLst/>
            <a:rect r="r" b="b" t="t" l="l"/>
            <a:pathLst>
              <a:path h="4328844" w="4800130">
                <a:moveTo>
                  <a:pt x="4800130" y="4328844"/>
                </a:moveTo>
                <a:lnTo>
                  <a:pt x="0" y="4328844"/>
                </a:lnTo>
                <a:lnTo>
                  <a:pt x="0" y="0"/>
                </a:lnTo>
                <a:lnTo>
                  <a:pt x="4800130" y="0"/>
                </a:lnTo>
                <a:lnTo>
                  <a:pt x="4800130" y="43288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7" id="7"/>
          <p:cNvSpPr/>
          <p:nvPr/>
        </p:nvSpPr>
        <p:spPr>
          <a:xfrm>
            <a:off x="13416" y="5157025"/>
            <a:ext cx="5507745" cy="5463326"/>
          </a:xfrm>
          <a:prstGeom prst="line">
            <a:avLst/>
          </a:prstGeom>
          <a:ln cap="flat" w="38100">
            <a:solidFill>
              <a:srgbClr val="16BEC7"/>
            </a:solidFill>
            <a:prstDash val="solid"/>
            <a:headEnd type="none" len="sm" w="sm"/>
            <a:tailEnd type="none" len="sm" w="sm"/>
          </a:ln>
        </p:spPr>
      </p:sp>
      <p:sp>
        <p:nvSpPr>
          <p:cNvPr name="AutoShape 8" id="8"/>
          <p:cNvSpPr/>
          <p:nvPr/>
        </p:nvSpPr>
        <p:spPr>
          <a:xfrm>
            <a:off x="13033718" y="-137136"/>
            <a:ext cx="5502199" cy="5457825"/>
          </a:xfrm>
          <a:prstGeom prst="line">
            <a:avLst/>
          </a:prstGeom>
          <a:ln cap="flat" w="38100">
            <a:solidFill>
              <a:srgbClr val="16BEC7"/>
            </a:solidFill>
            <a:prstDash val="solid"/>
            <a:headEnd type="none" len="sm" w="sm"/>
            <a:tailEnd type="none" len="sm" w="sm"/>
          </a:ln>
        </p:spPr>
      </p:sp>
      <p:sp>
        <p:nvSpPr>
          <p:cNvPr name="AutoShape 9" id="9"/>
          <p:cNvSpPr/>
          <p:nvPr/>
        </p:nvSpPr>
        <p:spPr>
          <a:xfrm>
            <a:off x="961937" y="8159245"/>
            <a:ext cx="2329981" cy="2225486"/>
          </a:xfrm>
          <a:prstGeom prst="line">
            <a:avLst/>
          </a:prstGeom>
          <a:ln cap="flat" w="38100">
            <a:solidFill>
              <a:srgbClr val="005359"/>
            </a:solidFill>
            <a:prstDash val="solid"/>
            <a:headEnd type="none" len="sm" w="sm"/>
            <a:tailEnd type="none" len="sm" w="sm"/>
          </a:ln>
        </p:spPr>
      </p:sp>
      <p:sp>
        <p:nvSpPr>
          <p:cNvPr name="AutoShape 10" id="10"/>
          <p:cNvSpPr/>
          <p:nvPr/>
        </p:nvSpPr>
        <p:spPr>
          <a:xfrm>
            <a:off x="14998381" y="-13294"/>
            <a:ext cx="2327635" cy="2223245"/>
          </a:xfrm>
          <a:prstGeom prst="line">
            <a:avLst/>
          </a:prstGeom>
          <a:ln cap="flat" w="38100">
            <a:solidFill>
              <a:srgbClr val="005359"/>
            </a:solidFill>
            <a:prstDash val="solid"/>
            <a:headEnd type="none" len="sm" w="sm"/>
            <a:tailEnd type="none" len="sm" w="sm"/>
          </a:ln>
        </p:spPr>
      </p:sp>
      <p:sp>
        <p:nvSpPr>
          <p:cNvPr name="Freeform 11" id="11"/>
          <p:cNvSpPr/>
          <p:nvPr/>
        </p:nvSpPr>
        <p:spPr>
          <a:xfrm flipH="false" flipV="false" rot="0">
            <a:off x="961937" y="947715"/>
            <a:ext cx="650571" cy="711291"/>
          </a:xfrm>
          <a:custGeom>
            <a:avLst/>
            <a:gdLst/>
            <a:ahLst/>
            <a:cxnLst/>
            <a:rect r="r" b="b" t="t" l="l"/>
            <a:pathLst>
              <a:path h="711291" w="650571">
                <a:moveTo>
                  <a:pt x="0" y="0"/>
                </a:moveTo>
                <a:lnTo>
                  <a:pt x="650572" y="0"/>
                </a:lnTo>
                <a:lnTo>
                  <a:pt x="650572" y="711292"/>
                </a:lnTo>
                <a:lnTo>
                  <a:pt x="0" y="711292"/>
                </a:lnTo>
                <a:lnTo>
                  <a:pt x="0" y="0"/>
                </a:lnTo>
                <a:close/>
              </a:path>
            </a:pathLst>
          </a:custGeom>
          <a:blipFill>
            <a:blip r:embed="rId7"/>
            <a:stretch>
              <a:fillRect l="0" t="0" r="0" b="0"/>
            </a:stretch>
          </a:blipFill>
        </p:spPr>
      </p:sp>
      <p:sp>
        <p:nvSpPr>
          <p:cNvPr name="TextBox 12" id="12"/>
          <p:cNvSpPr txBox="true"/>
          <p:nvPr/>
        </p:nvSpPr>
        <p:spPr>
          <a:xfrm rot="0">
            <a:off x="6349071" y="7959210"/>
            <a:ext cx="5589857" cy="622935"/>
          </a:xfrm>
          <a:prstGeom prst="rect">
            <a:avLst/>
          </a:prstGeom>
        </p:spPr>
        <p:txBody>
          <a:bodyPr anchor="t" rtlCol="false" tIns="0" lIns="0" bIns="0" rIns="0">
            <a:spAutoFit/>
          </a:bodyPr>
          <a:lstStyle/>
          <a:p>
            <a:pPr algn="ctr">
              <a:lnSpc>
                <a:spcPts val="5040"/>
              </a:lnSpc>
            </a:pPr>
            <a:r>
              <a:rPr lang="en-US" sz="3600" b="true">
                <a:solidFill>
                  <a:srgbClr val="000000"/>
                </a:solidFill>
                <a:latin typeface="Source Sans Pro Bold"/>
                <a:ea typeface="Source Sans Pro Bold"/>
                <a:cs typeface="Source Sans Pro Bold"/>
                <a:sym typeface="Source Sans Pro Bold"/>
              </a:rPr>
              <a:t>GROUP 16</a:t>
            </a:r>
          </a:p>
        </p:txBody>
      </p:sp>
      <p:sp>
        <p:nvSpPr>
          <p:cNvPr name="TextBox 13" id="13"/>
          <p:cNvSpPr txBox="true"/>
          <p:nvPr/>
        </p:nvSpPr>
        <p:spPr>
          <a:xfrm rot="0">
            <a:off x="1764831" y="1076666"/>
            <a:ext cx="3952205" cy="405765"/>
          </a:xfrm>
          <a:prstGeom prst="rect">
            <a:avLst/>
          </a:prstGeom>
        </p:spPr>
        <p:txBody>
          <a:bodyPr anchor="t" rtlCol="false" tIns="0" lIns="0" bIns="0" rIns="0">
            <a:spAutoFit/>
          </a:bodyPr>
          <a:lstStyle/>
          <a:p>
            <a:pPr algn="l">
              <a:lnSpc>
                <a:spcPts val="3359"/>
              </a:lnSpc>
            </a:pPr>
            <a:r>
              <a:rPr lang="en-US" sz="2400">
                <a:solidFill>
                  <a:srgbClr val="182B5C"/>
                </a:solidFill>
                <a:latin typeface="Source Sans Pro"/>
                <a:ea typeface="Source Sans Pro"/>
                <a:cs typeface="Source Sans Pro"/>
                <a:sym typeface="Source Sans Pro"/>
              </a:rPr>
              <a:t>INSTITUT TEKNOLOGI DEL</a:t>
            </a:r>
          </a:p>
        </p:txBody>
      </p:sp>
      <p:sp>
        <p:nvSpPr>
          <p:cNvPr name="TextBox 14" id="14"/>
          <p:cNvSpPr txBox="true"/>
          <p:nvPr/>
        </p:nvSpPr>
        <p:spPr>
          <a:xfrm rot="0">
            <a:off x="15784817" y="9105900"/>
            <a:ext cx="1909247" cy="626072"/>
          </a:xfrm>
          <a:prstGeom prst="rect">
            <a:avLst/>
          </a:prstGeom>
        </p:spPr>
        <p:txBody>
          <a:bodyPr anchor="t" rtlCol="false" tIns="0" lIns="0" bIns="0" rIns="0">
            <a:spAutoFit/>
          </a:bodyPr>
          <a:lstStyle/>
          <a:p>
            <a:pPr algn="ctr">
              <a:lnSpc>
                <a:spcPts val="5177"/>
              </a:lnSpc>
            </a:pPr>
            <a:r>
              <a:rPr lang="en-US" sz="3697">
                <a:solidFill>
                  <a:srgbClr val="CFC5C4"/>
                </a:solidFill>
                <a:latin typeface="League Spartan"/>
                <a:ea typeface="League Spartan"/>
                <a:cs typeface="League Spartan"/>
                <a:sym typeface="League Spartan"/>
              </a:rPr>
              <a:t>01</a:t>
            </a:r>
          </a:p>
        </p:txBody>
      </p:sp>
      <p:sp>
        <p:nvSpPr>
          <p:cNvPr name="TextBox 15" id="15"/>
          <p:cNvSpPr txBox="true"/>
          <p:nvPr/>
        </p:nvSpPr>
        <p:spPr>
          <a:xfrm rot="0">
            <a:off x="4239101" y="8758303"/>
            <a:ext cx="10611691" cy="1862048"/>
          </a:xfrm>
          <a:prstGeom prst="rect">
            <a:avLst/>
          </a:prstGeom>
        </p:spPr>
        <p:txBody>
          <a:bodyPr anchor="t" rtlCol="false" tIns="0" lIns="0" bIns="0" rIns="0">
            <a:spAutoFit/>
          </a:bodyPr>
          <a:lstStyle/>
          <a:p>
            <a:pPr algn="ctr">
              <a:lnSpc>
                <a:spcPts val="4992"/>
              </a:lnSpc>
              <a:spcBef>
                <a:spcPct val="0"/>
              </a:spcBef>
            </a:pPr>
            <a:r>
              <a:rPr lang="en-US" b="true" sz="3566">
                <a:solidFill>
                  <a:srgbClr val="000000"/>
                </a:solidFill>
                <a:latin typeface="Source Sans Pro Bold"/>
                <a:ea typeface="Source Sans Pro Bold"/>
                <a:cs typeface="Source Sans Pro Bold"/>
                <a:sym typeface="Source Sans Pro Bold"/>
              </a:rPr>
              <a:t>SUPERVISOR :PANDAPOTAN SIAGIAN,ST.M.ENG</a:t>
            </a:r>
          </a:p>
          <a:p>
            <a:pPr algn="ctr">
              <a:lnSpc>
                <a:spcPts val="4992"/>
              </a:lnSpc>
              <a:spcBef>
                <a:spcPct val="0"/>
              </a:spcBef>
            </a:pPr>
            <a:r>
              <a:rPr lang="en-US" sz="3566">
                <a:solidFill>
                  <a:srgbClr val="000000"/>
                </a:solidFill>
                <a:latin typeface="Source Sans Pro"/>
                <a:ea typeface="Source Sans Pro"/>
                <a:cs typeface="Source Sans Pro"/>
                <a:sym typeface="Source Sans Pro"/>
              </a:rPr>
              <a:t> </a:t>
            </a:r>
          </a:p>
          <a:p>
            <a:pPr algn="ctr">
              <a:lnSpc>
                <a:spcPts val="4992"/>
              </a:lnSpc>
              <a:spcBef>
                <a:spcPct val="0"/>
              </a:spcBef>
            </a:pPr>
            <a:r>
              <a:rPr lang="en-US" sz="3566">
                <a:solidFill>
                  <a:srgbClr val="000000"/>
                </a:solidFill>
                <a:latin typeface="Source Sans Pro"/>
                <a:ea typeface="Source Sans Pro"/>
                <a:cs typeface="Source Sans Pro"/>
                <a:sym typeface="Source Sans Pro"/>
              </a:rPr>
              <a:t>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6739441" y="8747543"/>
            <a:ext cx="1511485" cy="1409460"/>
          </a:xfrm>
          <a:custGeom>
            <a:avLst/>
            <a:gdLst/>
            <a:ahLst/>
            <a:cxnLst/>
            <a:rect r="r" b="b" t="t" l="l"/>
            <a:pathLst>
              <a:path h="1409460" w="1511485">
                <a:moveTo>
                  <a:pt x="1511485" y="1409461"/>
                </a:moveTo>
                <a:lnTo>
                  <a:pt x="0" y="1409461"/>
                </a:lnTo>
                <a:lnTo>
                  <a:pt x="0" y="0"/>
                </a:lnTo>
                <a:lnTo>
                  <a:pt x="1511485" y="0"/>
                </a:lnTo>
                <a:lnTo>
                  <a:pt x="1511485" y="140946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3924757" y="0"/>
            <a:ext cx="4363243" cy="5633626"/>
          </a:xfrm>
          <a:custGeom>
            <a:avLst/>
            <a:gdLst/>
            <a:ahLst/>
            <a:cxnLst/>
            <a:rect r="r" b="b" t="t" l="l"/>
            <a:pathLst>
              <a:path h="5633626" w="4363243">
                <a:moveTo>
                  <a:pt x="0" y="5633626"/>
                </a:moveTo>
                <a:lnTo>
                  <a:pt x="4363243" y="5633626"/>
                </a:lnTo>
                <a:lnTo>
                  <a:pt x="4363243" y="0"/>
                </a:lnTo>
                <a:lnTo>
                  <a:pt x="0" y="0"/>
                </a:lnTo>
                <a:lnTo>
                  <a:pt x="0" y="5633626"/>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545565" y="723900"/>
            <a:ext cx="6205452" cy="1029996"/>
            <a:chOff x="0" y="0"/>
            <a:chExt cx="1634358" cy="271275"/>
          </a:xfrm>
        </p:grpSpPr>
        <p:sp>
          <p:nvSpPr>
            <p:cNvPr name="Freeform 5" id="5"/>
            <p:cNvSpPr/>
            <p:nvPr/>
          </p:nvSpPr>
          <p:spPr>
            <a:xfrm flipH="false" flipV="false" rot="0">
              <a:off x="0" y="0"/>
              <a:ext cx="1634358" cy="271275"/>
            </a:xfrm>
            <a:custGeom>
              <a:avLst/>
              <a:gdLst/>
              <a:ahLst/>
              <a:cxnLst/>
              <a:rect r="r" b="b" t="t" l="l"/>
              <a:pathLst>
                <a:path h="271275" w="1634358">
                  <a:moveTo>
                    <a:pt x="124760" y="0"/>
                  </a:moveTo>
                  <a:lnTo>
                    <a:pt x="1509598" y="0"/>
                  </a:lnTo>
                  <a:cubicBezTo>
                    <a:pt x="1542686" y="0"/>
                    <a:pt x="1574419" y="13144"/>
                    <a:pt x="1597816" y="36541"/>
                  </a:cubicBezTo>
                  <a:cubicBezTo>
                    <a:pt x="1621213" y="59938"/>
                    <a:pt x="1634358" y="91672"/>
                    <a:pt x="1634358" y="124760"/>
                  </a:cubicBezTo>
                  <a:lnTo>
                    <a:pt x="1634358" y="146515"/>
                  </a:lnTo>
                  <a:cubicBezTo>
                    <a:pt x="1634358" y="215418"/>
                    <a:pt x="1578501" y="271275"/>
                    <a:pt x="1509598" y="271275"/>
                  </a:cubicBezTo>
                  <a:lnTo>
                    <a:pt x="124760" y="271275"/>
                  </a:lnTo>
                  <a:cubicBezTo>
                    <a:pt x="55857" y="271275"/>
                    <a:pt x="0" y="215418"/>
                    <a:pt x="0" y="146515"/>
                  </a:cubicBezTo>
                  <a:lnTo>
                    <a:pt x="0" y="124760"/>
                  </a:lnTo>
                  <a:cubicBezTo>
                    <a:pt x="0" y="91672"/>
                    <a:pt x="13144" y="59938"/>
                    <a:pt x="36541" y="36541"/>
                  </a:cubicBezTo>
                  <a:cubicBezTo>
                    <a:pt x="59938" y="13144"/>
                    <a:pt x="91672" y="0"/>
                    <a:pt x="124760" y="0"/>
                  </a:cubicBezTo>
                  <a:close/>
                </a:path>
              </a:pathLst>
            </a:custGeom>
            <a:solidFill>
              <a:srgbClr val="017077"/>
            </a:solidFill>
          </p:spPr>
        </p:sp>
        <p:sp>
          <p:nvSpPr>
            <p:cNvPr name="TextBox 6" id="6"/>
            <p:cNvSpPr txBox="true"/>
            <p:nvPr/>
          </p:nvSpPr>
          <p:spPr>
            <a:xfrm>
              <a:off x="0" y="-47625"/>
              <a:ext cx="1634358" cy="318900"/>
            </a:xfrm>
            <a:prstGeom prst="rect">
              <a:avLst/>
            </a:prstGeom>
          </p:spPr>
          <p:txBody>
            <a:bodyPr anchor="ctr" rtlCol="false" tIns="50800" lIns="50800" bIns="50800" rIns="50800"/>
            <a:lstStyle/>
            <a:p>
              <a:pPr algn="ctr">
                <a:lnSpc>
                  <a:spcPts val="3359"/>
                </a:lnSpc>
              </a:pPr>
            </a:p>
          </p:txBody>
        </p:sp>
      </p:grpSp>
      <p:sp>
        <p:nvSpPr>
          <p:cNvPr name="Freeform 7" id="7"/>
          <p:cNvSpPr/>
          <p:nvPr/>
        </p:nvSpPr>
        <p:spPr>
          <a:xfrm flipH="true" flipV="false" rot="0">
            <a:off x="-95036" y="8001356"/>
            <a:ext cx="2247471" cy="2901835"/>
          </a:xfrm>
          <a:custGeom>
            <a:avLst/>
            <a:gdLst/>
            <a:ahLst/>
            <a:cxnLst/>
            <a:rect r="r" b="b" t="t" l="l"/>
            <a:pathLst>
              <a:path h="2901835" w="2247471">
                <a:moveTo>
                  <a:pt x="2247472" y="0"/>
                </a:moveTo>
                <a:lnTo>
                  <a:pt x="0" y="0"/>
                </a:lnTo>
                <a:lnTo>
                  <a:pt x="0" y="2901835"/>
                </a:lnTo>
                <a:lnTo>
                  <a:pt x="2247472" y="2901835"/>
                </a:lnTo>
                <a:lnTo>
                  <a:pt x="224747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95909" y="867721"/>
            <a:ext cx="678981" cy="742353"/>
          </a:xfrm>
          <a:custGeom>
            <a:avLst/>
            <a:gdLst/>
            <a:ahLst/>
            <a:cxnLst/>
            <a:rect r="r" b="b" t="t" l="l"/>
            <a:pathLst>
              <a:path h="742353" w="678981">
                <a:moveTo>
                  <a:pt x="0" y="0"/>
                </a:moveTo>
                <a:lnTo>
                  <a:pt x="678981" y="0"/>
                </a:lnTo>
                <a:lnTo>
                  <a:pt x="678981" y="742353"/>
                </a:lnTo>
                <a:lnTo>
                  <a:pt x="0" y="742353"/>
                </a:lnTo>
                <a:lnTo>
                  <a:pt x="0" y="0"/>
                </a:lnTo>
                <a:close/>
              </a:path>
            </a:pathLst>
          </a:custGeom>
          <a:blipFill>
            <a:blip r:embed="rId6"/>
            <a:stretch>
              <a:fillRect l="0" t="0" r="0" b="0"/>
            </a:stretch>
          </a:blipFill>
        </p:spPr>
      </p:sp>
      <p:grpSp>
        <p:nvGrpSpPr>
          <p:cNvPr name="Group 9" id="9"/>
          <p:cNvGrpSpPr/>
          <p:nvPr/>
        </p:nvGrpSpPr>
        <p:grpSpPr>
          <a:xfrm rot="0">
            <a:off x="895909" y="4415135"/>
            <a:ext cx="3083035" cy="3083035"/>
            <a:chOff x="0" y="0"/>
            <a:chExt cx="6350000" cy="6350000"/>
          </a:xfrm>
        </p:grpSpPr>
        <p:sp>
          <p:nvSpPr>
            <p:cNvPr name="Freeform 10" id="10"/>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7"/>
              <a:stretch>
                <a:fillRect l="0" t="-25970" r="0" b="-25970"/>
              </a:stretch>
            </a:blipFill>
          </p:spPr>
        </p:sp>
      </p:grpSp>
      <p:grpSp>
        <p:nvGrpSpPr>
          <p:cNvPr name="Group 11" id="11"/>
          <p:cNvGrpSpPr/>
          <p:nvPr/>
        </p:nvGrpSpPr>
        <p:grpSpPr>
          <a:xfrm rot="0">
            <a:off x="13465285" y="4302130"/>
            <a:ext cx="3083035" cy="3083035"/>
            <a:chOff x="0" y="0"/>
            <a:chExt cx="6350000" cy="6350000"/>
          </a:xfrm>
        </p:grpSpPr>
        <p:sp>
          <p:nvSpPr>
            <p:cNvPr name="Freeform 12" id="12"/>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8"/>
              <a:stretch>
                <a:fillRect l="0" t="-25203" r="0" b="-25203"/>
              </a:stretch>
            </a:blipFill>
          </p:spPr>
        </p:sp>
      </p:grpSp>
      <p:grpSp>
        <p:nvGrpSpPr>
          <p:cNvPr name="Group 13" id="13"/>
          <p:cNvGrpSpPr/>
          <p:nvPr/>
        </p:nvGrpSpPr>
        <p:grpSpPr>
          <a:xfrm rot="0">
            <a:off x="9144000" y="4302130"/>
            <a:ext cx="3083035" cy="3083035"/>
            <a:chOff x="0" y="0"/>
            <a:chExt cx="6350000" cy="6350000"/>
          </a:xfrm>
        </p:grpSpPr>
        <p:sp>
          <p:nvSpPr>
            <p:cNvPr name="Freeform 14" id="14"/>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9"/>
              <a:stretch>
                <a:fillRect l="0" t="-25061" r="0" b="-25061"/>
              </a:stretch>
            </a:blipFill>
          </p:spPr>
        </p:sp>
      </p:grpSp>
      <p:grpSp>
        <p:nvGrpSpPr>
          <p:cNvPr name="Group 15" id="15"/>
          <p:cNvGrpSpPr/>
          <p:nvPr/>
        </p:nvGrpSpPr>
        <p:grpSpPr>
          <a:xfrm rot="0">
            <a:off x="4821802" y="4302130"/>
            <a:ext cx="3083035" cy="3083035"/>
            <a:chOff x="0" y="0"/>
            <a:chExt cx="6350000" cy="6350000"/>
          </a:xfrm>
        </p:grpSpPr>
        <p:sp>
          <p:nvSpPr>
            <p:cNvPr name="Freeform 16" id="16"/>
            <p:cNvSpPr/>
            <p:nvPr/>
          </p:nvSpPr>
          <p:spPr>
            <a:xfrm flipH="false" flipV="false" rot="0">
              <a:off x="0" y="0"/>
              <a:ext cx="6351270" cy="6350000"/>
            </a:xfrm>
            <a:custGeom>
              <a:avLst/>
              <a:gdLst/>
              <a:ahLst/>
              <a:cxnLst/>
              <a:rect r="r" b="b" t="t" l="l"/>
              <a:pathLst>
                <a:path h="6350000" w="6351270">
                  <a:moveTo>
                    <a:pt x="5985510" y="0"/>
                  </a:moveTo>
                  <a:lnTo>
                    <a:pt x="364490" y="0"/>
                  </a:lnTo>
                  <a:cubicBezTo>
                    <a:pt x="162560" y="0"/>
                    <a:pt x="0" y="162560"/>
                    <a:pt x="0" y="364490"/>
                  </a:cubicBezTo>
                  <a:lnTo>
                    <a:pt x="0" y="5986780"/>
                  </a:lnTo>
                  <a:cubicBezTo>
                    <a:pt x="0" y="6187440"/>
                    <a:pt x="162560" y="6350000"/>
                    <a:pt x="364490" y="6350000"/>
                  </a:cubicBezTo>
                  <a:lnTo>
                    <a:pt x="5986780" y="6350000"/>
                  </a:lnTo>
                  <a:cubicBezTo>
                    <a:pt x="6187440" y="6350000"/>
                    <a:pt x="6351270" y="6187440"/>
                    <a:pt x="6351270" y="5985510"/>
                  </a:cubicBezTo>
                  <a:lnTo>
                    <a:pt x="6351270" y="364490"/>
                  </a:lnTo>
                  <a:cubicBezTo>
                    <a:pt x="6350000" y="162560"/>
                    <a:pt x="6187440" y="0"/>
                    <a:pt x="5985510" y="0"/>
                  </a:cubicBezTo>
                  <a:close/>
                </a:path>
              </a:pathLst>
            </a:custGeom>
            <a:blipFill>
              <a:blip r:embed="rId10"/>
              <a:stretch>
                <a:fillRect l="0" t="-27508" r="0" b="-27508"/>
              </a:stretch>
            </a:blipFill>
          </p:spPr>
        </p:sp>
      </p:grpSp>
      <p:sp>
        <p:nvSpPr>
          <p:cNvPr name="TextBox 17" id="17"/>
          <p:cNvSpPr txBox="true"/>
          <p:nvPr/>
        </p:nvSpPr>
        <p:spPr>
          <a:xfrm rot="0">
            <a:off x="16620277" y="9105900"/>
            <a:ext cx="910829" cy="626072"/>
          </a:xfrm>
          <a:prstGeom prst="rect">
            <a:avLst/>
          </a:prstGeom>
        </p:spPr>
        <p:txBody>
          <a:bodyPr anchor="t" rtlCol="false" tIns="0" lIns="0" bIns="0" rIns="0">
            <a:spAutoFit/>
          </a:bodyPr>
          <a:lstStyle/>
          <a:p>
            <a:pPr algn="ctr">
              <a:lnSpc>
                <a:spcPts val="5177"/>
              </a:lnSpc>
            </a:pPr>
            <a:r>
              <a:rPr lang="en-US" sz="3697">
                <a:solidFill>
                  <a:srgbClr val="CFC5C4"/>
                </a:solidFill>
                <a:latin typeface="League Spartan"/>
                <a:ea typeface="League Spartan"/>
                <a:cs typeface="League Spartan"/>
                <a:sym typeface="League Spartan"/>
              </a:rPr>
              <a:t>02</a:t>
            </a:r>
          </a:p>
        </p:txBody>
      </p:sp>
      <p:sp>
        <p:nvSpPr>
          <p:cNvPr name="TextBox 18" id="18"/>
          <p:cNvSpPr txBox="true"/>
          <p:nvPr/>
        </p:nvSpPr>
        <p:spPr>
          <a:xfrm rot="0">
            <a:off x="1707681" y="1015096"/>
            <a:ext cx="3952205" cy="405765"/>
          </a:xfrm>
          <a:prstGeom prst="rect">
            <a:avLst/>
          </a:prstGeom>
        </p:spPr>
        <p:txBody>
          <a:bodyPr anchor="t" rtlCol="false" tIns="0" lIns="0" bIns="0" rIns="0">
            <a:spAutoFit/>
          </a:bodyPr>
          <a:lstStyle/>
          <a:p>
            <a:pPr algn="l">
              <a:lnSpc>
                <a:spcPts val="3359"/>
              </a:lnSpc>
            </a:pPr>
            <a:r>
              <a:rPr lang="en-US" sz="2400">
                <a:solidFill>
                  <a:srgbClr val="FFFFFF"/>
                </a:solidFill>
                <a:latin typeface="Source Sans Pro"/>
                <a:ea typeface="Source Sans Pro"/>
                <a:cs typeface="Source Sans Pro"/>
                <a:sym typeface="Source Sans Pro"/>
              </a:rPr>
              <a:t>INSTITUT TEKNOLOGI DEL</a:t>
            </a:r>
          </a:p>
        </p:txBody>
      </p:sp>
      <p:sp>
        <p:nvSpPr>
          <p:cNvPr name="TextBox 19" id="19"/>
          <p:cNvSpPr txBox="true"/>
          <p:nvPr/>
        </p:nvSpPr>
        <p:spPr>
          <a:xfrm rot="0">
            <a:off x="6335739" y="1791288"/>
            <a:ext cx="5089852" cy="1025525"/>
          </a:xfrm>
          <a:prstGeom prst="rect">
            <a:avLst/>
          </a:prstGeom>
        </p:spPr>
        <p:txBody>
          <a:bodyPr anchor="t" rtlCol="false" tIns="0" lIns="0" bIns="0" rIns="0">
            <a:spAutoFit/>
          </a:bodyPr>
          <a:lstStyle/>
          <a:p>
            <a:pPr algn="l">
              <a:lnSpc>
                <a:spcPts val="8125"/>
              </a:lnSpc>
            </a:pPr>
            <a:r>
              <a:rPr lang="en-US" sz="6500">
                <a:solidFill>
                  <a:srgbClr val="16BEC7"/>
                </a:solidFill>
                <a:latin typeface="League Spartan"/>
                <a:ea typeface="League Spartan"/>
                <a:cs typeface="League Spartan"/>
                <a:sym typeface="League Spartan"/>
              </a:rPr>
              <a:t>OUR TEAM</a:t>
            </a:r>
          </a:p>
        </p:txBody>
      </p:sp>
      <p:sp>
        <p:nvSpPr>
          <p:cNvPr name="TextBox 20" id="20"/>
          <p:cNvSpPr txBox="true"/>
          <p:nvPr/>
        </p:nvSpPr>
        <p:spPr>
          <a:xfrm rot="0">
            <a:off x="476722" y="7757280"/>
            <a:ext cx="4160877" cy="824865"/>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Source Sans Pro Bold"/>
                <a:ea typeface="Source Sans Pro Bold"/>
                <a:cs typeface="Source Sans Pro Bold"/>
                <a:sym typeface="Source Sans Pro Bold"/>
              </a:rPr>
              <a:t>13323010 </a:t>
            </a:r>
          </a:p>
          <a:p>
            <a:pPr algn="ctr">
              <a:lnSpc>
                <a:spcPts val="3359"/>
              </a:lnSpc>
              <a:spcBef>
                <a:spcPct val="0"/>
              </a:spcBef>
            </a:pPr>
            <a:r>
              <a:rPr lang="en-US" b="true" sz="2400">
                <a:solidFill>
                  <a:srgbClr val="000000"/>
                </a:solidFill>
                <a:latin typeface="Source Sans Pro Bold"/>
                <a:ea typeface="Source Sans Pro Bold"/>
                <a:cs typeface="Source Sans Pro Bold"/>
                <a:sym typeface="Source Sans Pro Bold"/>
              </a:rPr>
              <a:t>CALISTA YOSEPHIN PANJAITAN </a:t>
            </a:r>
          </a:p>
        </p:txBody>
      </p:sp>
      <p:sp>
        <p:nvSpPr>
          <p:cNvPr name="TextBox 21" id="21"/>
          <p:cNvSpPr txBox="true"/>
          <p:nvPr/>
        </p:nvSpPr>
        <p:spPr>
          <a:xfrm rot="0">
            <a:off x="4934510" y="7757280"/>
            <a:ext cx="2857619" cy="878136"/>
          </a:xfrm>
          <a:prstGeom prst="rect">
            <a:avLst/>
          </a:prstGeom>
        </p:spPr>
        <p:txBody>
          <a:bodyPr anchor="t" rtlCol="false" tIns="0" lIns="0" bIns="0" rIns="0">
            <a:spAutoFit/>
          </a:bodyPr>
          <a:lstStyle/>
          <a:p>
            <a:pPr algn="ctr">
              <a:lnSpc>
                <a:spcPts val="3573"/>
              </a:lnSpc>
              <a:spcBef>
                <a:spcPct val="0"/>
              </a:spcBef>
            </a:pPr>
            <a:r>
              <a:rPr lang="en-US" b="true" sz="2552">
                <a:solidFill>
                  <a:srgbClr val="000000"/>
                </a:solidFill>
                <a:latin typeface="Source Sans Pro Bold"/>
                <a:ea typeface="Source Sans Pro Bold"/>
                <a:cs typeface="Source Sans Pro Bold"/>
                <a:sym typeface="Source Sans Pro Bold"/>
              </a:rPr>
              <a:t>13323043</a:t>
            </a:r>
          </a:p>
          <a:p>
            <a:pPr algn="ctr">
              <a:lnSpc>
                <a:spcPts val="3573"/>
              </a:lnSpc>
              <a:spcBef>
                <a:spcPct val="0"/>
              </a:spcBef>
            </a:pPr>
            <a:r>
              <a:rPr lang="en-US" b="true" sz="2552">
                <a:solidFill>
                  <a:srgbClr val="000000"/>
                </a:solidFill>
                <a:latin typeface="Source Sans Pro Bold"/>
                <a:ea typeface="Source Sans Pro Bold"/>
                <a:cs typeface="Source Sans Pro Bold"/>
                <a:sym typeface="Source Sans Pro Bold"/>
              </a:rPr>
              <a:t> CHESIA P.M.SILAEN</a:t>
            </a:r>
            <a:r>
              <a:rPr lang="en-US" sz="2552">
                <a:solidFill>
                  <a:srgbClr val="000000"/>
                </a:solidFill>
                <a:latin typeface="Source Sans Pro"/>
                <a:ea typeface="Source Sans Pro"/>
                <a:cs typeface="Source Sans Pro"/>
                <a:sym typeface="Source Sans Pro"/>
              </a:rPr>
              <a:t> </a:t>
            </a:r>
          </a:p>
        </p:txBody>
      </p:sp>
      <p:sp>
        <p:nvSpPr>
          <p:cNvPr name="TextBox 22" id="22"/>
          <p:cNvSpPr txBox="true"/>
          <p:nvPr/>
        </p:nvSpPr>
        <p:spPr>
          <a:xfrm rot="0">
            <a:off x="12932019" y="7450545"/>
            <a:ext cx="4149566" cy="1243965"/>
          </a:xfrm>
          <a:prstGeom prst="rect">
            <a:avLst/>
          </a:prstGeom>
        </p:spPr>
        <p:txBody>
          <a:bodyPr anchor="t" rtlCol="false" tIns="0" lIns="0" bIns="0" rIns="0">
            <a:spAutoFit/>
          </a:bodyPr>
          <a:lstStyle/>
          <a:p>
            <a:pPr algn="ctr">
              <a:lnSpc>
                <a:spcPts val="3359"/>
              </a:lnSpc>
              <a:spcBef>
                <a:spcPct val="0"/>
              </a:spcBef>
            </a:pPr>
          </a:p>
          <a:p>
            <a:pPr algn="ctr">
              <a:lnSpc>
                <a:spcPts val="3359"/>
              </a:lnSpc>
              <a:spcBef>
                <a:spcPct val="0"/>
              </a:spcBef>
            </a:pPr>
            <a:r>
              <a:rPr lang="en-US" b="true" sz="2400">
                <a:solidFill>
                  <a:srgbClr val="000000"/>
                </a:solidFill>
                <a:latin typeface="Source Sans Pro Bold"/>
                <a:ea typeface="Source Sans Pro Bold"/>
                <a:cs typeface="Source Sans Pro Bold"/>
                <a:sym typeface="Source Sans Pro Bold"/>
              </a:rPr>
              <a:t>13323045 </a:t>
            </a:r>
          </a:p>
          <a:p>
            <a:pPr algn="ctr">
              <a:lnSpc>
                <a:spcPts val="3359"/>
              </a:lnSpc>
              <a:spcBef>
                <a:spcPct val="0"/>
              </a:spcBef>
            </a:pPr>
            <a:r>
              <a:rPr lang="en-US" b="true" sz="2400">
                <a:solidFill>
                  <a:srgbClr val="000000"/>
                </a:solidFill>
                <a:latin typeface="Source Sans Pro Bold"/>
                <a:ea typeface="Source Sans Pro Bold"/>
                <a:cs typeface="Source Sans Pro Bold"/>
                <a:sym typeface="Source Sans Pro Bold"/>
              </a:rPr>
              <a:t>DEALOVA ZEVANYA MANURUNG</a:t>
            </a:r>
          </a:p>
        </p:txBody>
      </p:sp>
      <p:sp>
        <p:nvSpPr>
          <p:cNvPr name="TextBox 23" id="23"/>
          <p:cNvSpPr txBox="true"/>
          <p:nvPr/>
        </p:nvSpPr>
        <p:spPr>
          <a:xfrm rot="0">
            <a:off x="8824392" y="7783915"/>
            <a:ext cx="3722251" cy="824865"/>
          </a:xfrm>
          <a:prstGeom prst="rect">
            <a:avLst/>
          </a:prstGeom>
        </p:spPr>
        <p:txBody>
          <a:bodyPr anchor="t" rtlCol="false" tIns="0" lIns="0" bIns="0" rIns="0">
            <a:spAutoFit/>
          </a:bodyPr>
          <a:lstStyle/>
          <a:p>
            <a:pPr algn="ctr">
              <a:lnSpc>
                <a:spcPts val="3359"/>
              </a:lnSpc>
              <a:spcBef>
                <a:spcPct val="0"/>
              </a:spcBef>
            </a:pPr>
            <a:r>
              <a:rPr lang="en-US" b="true" sz="2400">
                <a:solidFill>
                  <a:srgbClr val="000000"/>
                </a:solidFill>
                <a:latin typeface="Source Sans Pro Bold"/>
                <a:ea typeface="Source Sans Pro Bold"/>
                <a:cs typeface="Source Sans Pro Bold"/>
                <a:sym typeface="Source Sans Pro Bold"/>
              </a:rPr>
              <a:t>13323035</a:t>
            </a:r>
          </a:p>
          <a:p>
            <a:pPr algn="ctr">
              <a:lnSpc>
                <a:spcPts val="3359"/>
              </a:lnSpc>
              <a:spcBef>
                <a:spcPct val="0"/>
              </a:spcBef>
            </a:pPr>
            <a:r>
              <a:rPr lang="en-US" b="true" sz="2400">
                <a:solidFill>
                  <a:srgbClr val="000000"/>
                </a:solidFill>
                <a:latin typeface="Source Sans Pro Bold"/>
                <a:ea typeface="Source Sans Pro Bold"/>
                <a:cs typeface="Source Sans Pro Bold"/>
                <a:sym typeface="Source Sans Pro Bold"/>
              </a:rPr>
              <a:t> GLEN RIFAEL SITUMORANG</a:t>
            </a:r>
            <a:r>
              <a:rPr lang="en-US" sz="2400">
                <a:solidFill>
                  <a:srgbClr val="000000"/>
                </a:solidFill>
                <a:latin typeface="Source Sans Pro"/>
                <a:ea typeface="Source Sans Pro"/>
                <a:cs typeface="Source Sans Pro"/>
                <a:sym typeface="Source Sans Pro"/>
              </a:rPr>
              <a:t>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true" rot="0">
            <a:off x="13924757" y="0"/>
            <a:ext cx="4363243" cy="5633626"/>
          </a:xfrm>
          <a:custGeom>
            <a:avLst/>
            <a:gdLst/>
            <a:ahLst/>
            <a:cxnLst/>
            <a:rect r="r" b="b" t="t" l="l"/>
            <a:pathLst>
              <a:path h="5633626" w="4363243">
                <a:moveTo>
                  <a:pt x="0" y="5633626"/>
                </a:moveTo>
                <a:lnTo>
                  <a:pt x="4363243" y="5633626"/>
                </a:lnTo>
                <a:lnTo>
                  <a:pt x="4363243" y="0"/>
                </a:lnTo>
                <a:lnTo>
                  <a:pt x="0" y="0"/>
                </a:lnTo>
                <a:lnTo>
                  <a:pt x="0" y="5633626"/>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545565" y="723900"/>
            <a:ext cx="6205452" cy="1029996"/>
            <a:chOff x="0" y="0"/>
            <a:chExt cx="1634358" cy="271275"/>
          </a:xfrm>
        </p:grpSpPr>
        <p:sp>
          <p:nvSpPr>
            <p:cNvPr name="Freeform 5" id="5"/>
            <p:cNvSpPr/>
            <p:nvPr/>
          </p:nvSpPr>
          <p:spPr>
            <a:xfrm flipH="false" flipV="false" rot="0">
              <a:off x="0" y="0"/>
              <a:ext cx="1634358" cy="271275"/>
            </a:xfrm>
            <a:custGeom>
              <a:avLst/>
              <a:gdLst/>
              <a:ahLst/>
              <a:cxnLst/>
              <a:rect r="r" b="b" t="t" l="l"/>
              <a:pathLst>
                <a:path h="271275" w="1634358">
                  <a:moveTo>
                    <a:pt x="124760" y="0"/>
                  </a:moveTo>
                  <a:lnTo>
                    <a:pt x="1509598" y="0"/>
                  </a:lnTo>
                  <a:cubicBezTo>
                    <a:pt x="1542686" y="0"/>
                    <a:pt x="1574419" y="13144"/>
                    <a:pt x="1597816" y="36541"/>
                  </a:cubicBezTo>
                  <a:cubicBezTo>
                    <a:pt x="1621213" y="59938"/>
                    <a:pt x="1634358" y="91672"/>
                    <a:pt x="1634358" y="124760"/>
                  </a:cubicBezTo>
                  <a:lnTo>
                    <a:pt x="1634358" y="146515"/>
                  </a:lnTo>
                  <a:cubicBezTo>
                    <a:pt x="1634358" y="215418"/>
                    <a:pt x="1578501" y="271275"/>
                    <a:pt x="1509598" y="271275"/>
                  </a:cubicBezTo>
                  <a:lnTo>
                    <a:pt x="124760" y="271275"/>
                  </a:lnTo>
                  <a:cubicBezTo>
                    <a:pt x="55857" y="271275"/>
                    <a:pt x="0" y="215418"/>
                    <a:pt x="0" y="146515"/>
                  </a:cubicBezTo>
                  <a:lnTo>
                    <a:pt x="0" y="124760"/>
                  </a:lnTo>
                  <a:cubicBezTo>
                    <a:pt x="0" y="91672"/>
                    <a:pt x="13144" y="59938"/>
                    <a:pt x="36541" y="36541"/>
                  </a:cubicBezTo>
                  <a:cubicBezTo>
                    <a:pt x="59938" y="13144"/>
                    <a:pt x="91672" y="0"/>
                    <a:pt x="124760" y="0"/>
                  </a:cubicBezTo>
                  <a:close/>
                </a:path>
              </a:pathLst>
            </a:custGeom>
            <a:solidFill>
              <a:srgbClr val="017077"/>
            </a:solidFill>
          </p:spPr>
        </p:sp>
        <p:sp>
          <p:nvSpPr>
            <p:cNvPr name="TextBox 6" id="6"/>
            <p:cNvSpPr txBox="true"/>
            <p:nvPr/>
          </p:nvSpPr>
          <p:spPr>
            <a:xfrm>
              <a:off x="0" y="-47625"/>
              <a:ext cx="1634358" cy="318900"/>
            </a:xfrm>
            <a:prstGeom prst="rect">
              <a:avLst/>
            </a:prstGeom>
          </p:spPr>
          <p:txBody>
            <a:bodyPr anchor="ctr" rtlCol="false" tIns="50800" lIns="50800" bIns="50800" rIns="50800"/>
            <a:lstStyle/>
            <a:p>
              <a:pPr algn="ctr">
                <a:lnSpc>
                  <a:spcPts val="3359"/>
                </a:lnSpc>
              </a:pPr>
            </a:p>
          </p:txBody>
        </p:sp>
      </p:grpSp>
      <p:sp>
        <p:nvSpPr>
          <p:cNvPr name="Freeform 7" id="7"/>
          <p:cNvSpPr/>
          <p:nvPr/>
        </p:nvSpPr>
        <p:spPr>
          <a:xfrm flipH="true" flipV="true" rot="0">
            <a:off x="16182578" y="8582145"/>
            <a:ext cx="1511485" cy="1409460"/>
          </a:xfrm>
          <a:custGeom>
            <a:avLst/>
            <a:gdLst/>
            <a:ahLst/>
            <a:cxnLst/>
            <a:rect r="r" b="b" t="t" l="l"/>
            <a:pathLst>
              <a:path h="1409460" w="1511485">
                <a:moveTo>
                  <a:pt x="1511486" y="1409460"/>
                </a:moveTo>
                <a:lnTo>
                  <a:pt x="0" y="1409460"/>
                </a:lnTo>
                <a:lnTo>
                  <a:pt x="0" y="0"/>
                </a:lnTo>
                <a:lnTo>
                  <a:pt x="1511486" y="0"/>
                </a:lnTo>
                <a:lnTo>
                  <a:pt x="1511486" y="140946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6219581" y="9105900"/>
            <a:ext cx="1039719" cy="626072"/>
          </a:xfrm>
          <a:prstGeom prst="rect">
            <a:avLst/>
          </a:prstGeom>
        </p:spPr>
        <p:txBody>
          <a:bodyPr anchor="t" rtlCol="false" tIns="0" lIns="0" bIns="0" rIns="0">
            <a:spAutoFit/>
          </a:bodyPr>
          <a:lstStyle/>
          <a:p>
            <a:pPr algn="ctr">
              <a:lnSpc>
                <a:spcPts val="5177"/>
              </a:lnSpc>
            </a:pPr>
            <a:r>
              <a:rPr lang="en-US" sz="3697">
                <a:solidFill>
                  <a:srgbClr val="CFC5C4"/>
                </a:solidFill>
                <a:latin typeface="League Spartan"/>
                <a:ea typeface="League Spartan"/>
                <a:cs typeface="League Spartan"/>
                <a:sym typeface="League Spartan"/>
              </a:rPr>
              <a:t>03</a:t>
            </a:r>
          </a:p>
        </p:txBody>
      </p:sp>
      <p:sp>
        <p:nvSpPr>
          <p:cNvPr name="TextBox 9" id="9"/>
          <p:cNvSpPr txBox="true"/>
          <p:nvPr/>
        </p:nvSpPr>
        <p:spPr>
          <a:xfrm rot="0">
            <a:off x="1707681" y="1015096"/>
            <a:ext cx="3952205" cy="405765"/>
          </a:xfrm>
          <a:prstGeom prst="rect">
            <a:avLst/>
          </a:prstGeom>
        </p:spPr>
        <p:txBody>
          <a:bodyPr anchor="t" rtlCol="false" tIns="0" lIns="0" bIns="0" rIns="0">
            <a:spAutoFit/>
          </a:bodyPr>
          <a:lstStyle/>
          <a:p>
            <a:pPr algn="l">
              <a:lnSpc>
                <a:spcPts val="3359"/>
              </a:lnSpc>
            </a:pPr>
            <a:r>
              <a:rPr lang="en-US" sz="2400">
                <a:solidFill>
                  <a:srgbClr val="FFFFFF"/>
                </a:solidFill>
                <a:latin typeface="Source Sans Pro"/>
                <a:ea typeface="Source Sans Pro"/>
                <a:cs typeface="Source Sans Pro"/>
                <a:sym typeface="Source Sans Pro"/>
              </a:rPr>
              <a:t>INSTITUT TEKNOLOGI DEL</a:t>
            </a:r>
          </a:p>
        </p:txBody>
      </p:sp>
      <p:sp>
        <p:nvSpPr>
          <p:cNvPr name="TextBox 10" id="10"/>
          <p:cNvSpPr txBox="true"/>
          <p:nvPr/>
        </p:nvSpPr>
        <p:spPr>
          <a:xfrm rot="0">
            <a:off x="1123736" y="2543930"/>
            <a:ext cx="4450217" cy="1025525"/>
          </a:xfrm>
          <a:prstGeom prst="rect">
            <a:avLst/>
          </a:prstGeom>
        </p:spPr>
        <p:txBody>
          <a:bodyPr anchor="t" rtlCol="false" tIns="0" lIns="0" bIns="0" rIns="0">
            <a:spAutoFit/>
          </a:bodyPr>
          <a:lstStyle/>
          <a:p>
            <a:pPr algn="l">
              <a:lnSpc>
                <a:spcPts val="8125"/>
              </a:lnSpc>
            </a:pPr>
            <a:r>
              <a:rPr lang="en-US" sz="6500">
                <a:solidFill>
                  <a:srgbClr val="16BEC7"/>
                </a:solidFill>
                <a:latin typeface="League Spartan"/>
                <a:ea typeface="League Spartan"/>
                <a:cs typeface="League Spartan"/>
                <a:sym typeface="League Spartan"/>
              </a:rPr>
              <a:t>OUTLINE</a:t>
            </a:r>
          </a:p>
        </p:txBody>
      </p:sp>
      <p:sp>
        <p:nvSpPr>
          <p:cNvPr name="TextBox 11" id="11"/>
          <p:cNvSpPr txBox="true"/>
          <p:nvPr/>
        </p:nvSpPr>
        <p:spPr>
          <a:xfrm rot="0">
            <a:off x="961937" y="4248265"/>
            <a:ext cx="7004501" cy="4394200"/>
          </a:xfrm>
          <a:prstGeom prst="rect">
            <a:avLst/>
          </a:prstGeom>
        </p:spPr>
        <p:txBody>
          <a:bodyPr anchor="t" rtlCol="false" tIns="0" lIns="0" bIns="0" rIns="0">
            <a:spAutoFit/>
          </a:bodyPr>
          <a:lstStyle/>
          <a:p>
            <a:pPr algn="l" marL="863599" indent="-431800" lvl="1">
              <a:lnSpc>
                <a:spcPts val="4999"/>
              </a:lnSpc>
              <a:buFont typeface="Arial"/>
              <a:buChar char="•"/>
            </a:pPr>
            <a:r>
              <a:rPr lang="en-US" b="true" sz="3999">
                <a:solidFill>
                  <a:srgbClr val="005359"/>
                </a:solidFill>
                <a:latin typeface="Source Sans Pro Bold"/>
                <a:ea typeface="Source Sans Pro Bold"/>
                <a:cs typeface="Source Sans Pro Bold"/>
                <a:sym typeface="Source Sans Pro Bold"/>
              </a:rPr>
              <a:t>BACKGROUND</a:t>
            </a:r>
          </a:p>
          <a:p>
            <a:pPr algn="l">
              <a:lnSpc>
                <a:spcPts val="4999"/>
              </a:lnSpc>
            </a:pPr>
          </a:p>
          <a:p>
            <a:pPr algn="l" marL="863599" indent="-431800" lvl="1">
              <a:lnSpc>
                <a:spcPts val="4999"/>
              </a:lnSpc>
              <a:buFont typeface="Arial"/>
              <a:buChar char="•"/>
            </a:pPr>
            <a:r>
              <a:rPr lang="en-US" b="true" sz="3999">
                <a:solidFill>
                  <a:srgbClr val="005359"/>
                </a:solidFill>
                <a:latin typeface="Source Sans Pro Bold"/>
                <a:ea typeface="Source Sans Pro Bold"/>
                <a:cs typeface="Source Sans Pro Bold"/>
                <a:sym typeface="Source Sans Pro Bold"/>
              </a:rPr>
              <a:t>PURPOSE</a:t>
            </a:r>
          </a:p>
          <a:p>
            <a:pPr algn="l">
              <a:lnSpc>
                <a:spcPts val="4999"/>
              </a:lnSpc>
            </a:pPr>
          </a:p>
          <a:p>
            <a:pPr algn="l" marL="863599" indent="-431800" lvl="1">
              <a:lnSpc>
                <a:spcPts val="4999"/>
              </a:lnSpc>
              <a:buFont typeface="Arial"/>
              <a:buChar char="•"/>
            </a:pPr>
            <a:r>
              <a:rPr lang="en-US" b="true" sz="3999">
                <a:solidFill>
                  <a:srgbClr val="005359"/>
                </a:solidFill>
                <a:latin typeface="Source Sans Pro Bold"/>
                <a:ea typeface="Source Sans Pro Bold"/>
                <a:cs typeface="Source Sans Pro Bold"/>
                <a:sym typeface="Source Sans Pro Bold"/>
              </a:rPr>
              <a:t>SCOPE AND LIMITATIONS</a:t>
            </a:r>
          </a:p>
          <a:p>
            <a:pPr algn="l">
              <a:lnSpc>
                <a:spcPts val="4999"/>
              </a:lnSpc>
            </a:pPr>
          </a:p>
          <a:p>
            <a:pPr algn="l" marL="863599" indent="-431800" lvl="1">
              <a:lnSpc>
                <a:spcPts val="4999"/>
              </a:lnSpc>
              <a:buFont typeface="Arial"/>
              <a:buChar char="•"/>
            </a:pPr>
            <a:r>
              <a:rPr lang="en-US" b="true" sz="3999">
                <a:solidFill>
                  <a:srgbClr val="005359"/>
                </a:solidFill>
                <a:latin typeface="Source Sans Pro Bold"/>
                <a:ea typeface="Source Sans Pro Bold"/>
                <a:cs typeface="Source Sans Pro Bold"/>
                <a:sym typeface="Source Sans Pro Bold"/>
              </a:rPr>
              <a:t>TARGET SYSTEM</a:t>
            </a:r>
          </a:p>
        </p:txBody>
      </p:sp>
      <p:sp>
        <p:nvSpPr>
          <p:cNvPr name="Freeform 12" id="12"/>
          <p:cNvSpPr/>
          <p:nvPr/>
        </p:nvSpPr>
        <p:spPr>
          <a:xfrm flipH="true" flipV="false" rot="0">
            <a:off x="0" y="7385165"/>
            <a:ext cx="2247471" cy="2901835"/>
          </a:xfrm>
          <a:custGeom>
            <a:avLst/>
            <a:gdLst/>
            <a:ahLst/>
            <a:cxnLst/>
            <a:rect r="r" b="b" t="t" l="l"/>
            <a:pathLst>
              <a:path h="2901835" w="2247471">
                <a:moveTo>
                  <a:pt x="2247471" y="0"/>
                </a:moveTo>
                <a:lnTo>
                  <a:pt x="0" y="0"/>
                </a:lnTo>
                <a:lnTo>
                  <a:pt x="0" y="2901835"/>
                </a:lnTo>
                <a:lnTo>
                  <a:pt x="2247471" y="2901835"/>
                </a:lnTo>
                <a:lnTo>
                  <a:pt x="22474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961937" y="947715"/>
            <a:ext cx="558420" cy="610539"/>
          </a:xfrm>
          <a:custGeom>
            <a:avLst/>
            <a:gdLst/>
            <a:ahLst/>
            <a:cxnLst/>
            <a:rect r="r" b="b" t="t" l="l"/>
            <a:pathLst>
              <a:path h="610539" w="558420">
                <a:moveTo>
                  <a:pt x="0" y="0"/>
                </a:moveTo>
                <a:lnTo>
                  <a:pt x="558420" y="0"/>
                </a:lnTo>
                <a:lnTo>
                  <a:pt x="558420" y="610539"/>
                </a:lnTo>
                <a:lnTo>
                  <a:pt x="0" y="610539"/>
                </a:lnTo>
                <a:lnTo>
                  <a:pt x="0" y="0"/>
                </a:lnTo>
                <a:close/>
              </a:path>
            </a:pathLst>
          </a:custGeom>
          <a:blipFill>
            <a:blip r:embed="rId7"/>
            <a:stretch>
              <a:fillRect l="0" t="0" r="0" b="0"/>
            </a:stretch>
          </a:blipFill>
        </p:spPr>
      </p:sp>
      <p:sp>
        <p:nvSpPr>
          <p:cNvPr name="TextBox 14" id="14"/>
          <p:cNvSpPr txBox="true"/>
          <p:nvPr/>
        </p:nvSpPr>
        <p:spPr>
          <a:xfrm rot="0">
            <a:off x="9753940" y="4248265"/>
            <a:ext cx="6428638" cy="5022850"/>
          </a:xfrm>
          <a:prstGeom prst="rect">
            <a:avLst/>
          </a:prstGeom>
        </p:spPr>
        <p:txBody>
          <a:bodyPr anchor="t" rtlCol="false" tIns="0" lIns="0" bIns="0" rIns="0">
            <a:spAutoFit/>
          </a:bodyPr>
          <a:lstStyle/>
          <a:p>
            <a:pPr algn="l" marL="863599" indent="-431800" lvl="1">
              <a:lnSpc>
                <a:spcPts val="4999"/>
              </a:lnSpc>
              <a:buFont typeface="Arial"/>
              <a:buChar char="•"/>
            </a:pPr>
            <a:r>
              <a:rPr lang="en-US" b="true" sz="3999">
                <a:solidFill>
                  <a:srgbClr val="005359"/>
                </a:solidFill>
                <a:latin typeface="Source Sans Pro Bold"/>
                <a:ea typeface="Source Sans Pro Bold"/>
                <a:cs typeface="Source Sans Pro Bold"/>
                <a:sym typeface="Source Sans Pro Bold"/>
              </a:rPr>
              <a:t>HARDWARE DESIGN</a:t>
            </a:r>
          </a:p>
          <a:p>
            <a:pPr algn="l">
              <a:lnSpc>
                <a:spcPts val="4999"/>
              </a:lnSpc>
            </a:pPr>
          </a:p>
          <a:p>
            <a:pPr algn="l" marL="863599" indent="-431800" lvl="1">
              <a:lnSpc>
                <a:spcPts val="4999"/>
              </a:lnSpc>
              <a:buFont typeface="Arial"/>
              <a:buChar char="•"/>
            </a:pPr>
            <a:r>
              <a:rPr lang="en-US" b="true" sz="3999">
                <a:solidFill>
                  <a:srgbClr val="005359"/>
                </a:solidFill>
                <a:latin typeface="Source Sans Pro Bold"/>
                <a:ea typeface="Source Sans Pro Bold"/>
                <a:cs typeface="Source Sans Pro Bold"/>
                <a:sym typeface="Source Sans Pro Bold"/>
              </a:rPr>
              <a:t>CONCLUTION</a:t>
            </a:r>
          </a:p>
          <a:p>
            <a:pPr algn="l">
              <a:lnSpc>
                <a:spcPts val="4999"/>
              </a:lnSpc>
            </a:pPr>
          </a:p>
          <a:p>
            <a:pPr algn="l" marL="863599" indent="-431800" lvl="1">
              <a:lnSpc>
                <a:spcPts val="4999"/>
              </a:lnSpc>
              <a:buFont typeface="Arial"/>
              <a:buChar char="•"/>
            </a:pPr>
            <a:r>
              <a:rPr lang="en-US" b="true" sz="3999">
                <a:solidFill>
                  <a:srgbClr val="005359"/>
                </a:solidFill>
                <a:latin typeface="Source Sans Pro Bold"/>
                <a:ea typeface="Source Sans Pro Bold"/>
                <a:cs typeface="Source Sans Pro Bold"/>
                <a:sym typeface="Source Sans Pro Bold"/>
              </a:rPr>
              <a:t>DEMO</a:t>
            </a:r>
          </a:p>
          <a:p>
            <a:pPr algn="l">
              <a:lnSpc>
                <a:spcPts val="4999"/>
              </a:lnSpc>
            </a:pPr>
          </a:p>
          <a:p>
            <a:pPr algn="l" marL="863599" indent="-431800" lvl="1">
              <a:lnSpc>
                <a:spcPts val="4999"/>
              </a:lnSpc>
              <a:buFont typeface="Arial"/>
              <a:buChar char="•"/>
            </a:pPr>
            <a:r>
              <a:rPr lang="en-US" b="true" sz="3999">
                <a:solidFill>
                  <a:srgbClr val="005359"/>
                </a:solidFill>
                <a:latin typeface="Source Sans Pro Bold"/>
                <a:ea typeface="Source Sans Pro Bold"/>
                <a:cs typeface="Source Sans Pro Bold"/>
                <a:sym typeface="Source Sans Pro Bold"/>
              </a:rPr>
              <a:t>Q &amp; A</a:t>
            </a:r>
          </a:p>
          <a:p>
            <a:pPr algn="l">
              <a:lnSpc>
                <a:spcPts val="499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true" flipV="true" rot="0">
            <a:off x="16182578" y="8582145"/>
            <a:ext cx="1511485" cy="1409460"/>
          </a:xfrm>
          <a:custGeom>
            <a:avLst/>
            <a:gdLst/>
            <a:ahLst/>
            <a:cxnLst/>
            <a:rect r="r" b="b" t="t" l="l"/>
            <a:pathLst>
              <a:path h="1409460" w="1511485">
                <a:moveTo>
                  <a:pt x="1511486" y="1409460"/>
                </a:moveTo>
                <a:lnTo>
                  <a:pt x="0" y="1409460"/>
                </a:lnTo>
                <a:lnTo>
                  <a:pt x="0" y="0"/>
                </a:lnTo>
                <a:lnTo>
                  <a:pt x="1511486" y="0"/>
                </a:lnTo>
                <a:lnTo>
                  <a:pt x="1511486" y="14094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3924757" y="0"/>
            <a:ext cx="4363243" cy="5633626"/>
          </a:xfrm>
          <a:custGeom>
            <a:avLst/>
            <a:gdLst/>
            <a:ahLst/>
            <a:cxnLst/>
            <a:rect r="r" b="b" t="t" l="l"/>
            <a:pathLst>
              <a:path h="5633626" w="4363243">
                <a:moveTo>
                  <a:pt x="0" y="5633626"/>
                </a:moveTo>
                <a:lnTo>
                  <a:pt x="4363243" y="5633626"/>
                </a:lnTo>
                <a:lnTo>
                  <a:pt x="4363243" y="0"/>
                </a:lnTo>
                <a:lnTo>
                  <a:pt x="0" y="0"/>
                </a:lnTo>
                <a:lnTo>
                  <a:pt x="0" y="5633626"/>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545565" y="723900"/>
            <a:ext cx="6205452" cy="1029996"/>
            <a:chOff x="0" y="0"/>
            <a:chExt cx="1634358" cy="271275"/>
          </a:xfrm>
        </p:grpSpPr>
        <p:sp>
          <p:nvSpPr>
            <p:cNvPr name="Freeform 6" id="6"/>
            <p:cNvSpPr/>
            <p:nvPr/>
          </p:nvSpPr>
          <p:spPr>
            <a:xfrm flipH="false" flipV="false" rot="0">
              <a:off x="0" y="0"/>
              <a:ext cx="1634358" cy="271275"/>
            </a:xfrm>
            <a:custGeom>
              <a:avLst/>
              <a:gdLst/>
              <a:ahLst/>
              <a:cxnLst/>
              <a:rect r="r" b="b" t="t" l="l"/>
              <a:pathLst>
                <a:path h="271275" w="1634358">
                  <a:moveTo>
                    <a:pt x="124760" y="0"/>
                  </a:moveTo>
                  <a:lnTo>
                    <a:pt x="1509598" y="0"/>
                  </a:lnTo>
                  <a:cubicBezTo>
                    <a:pt x="1542686" y="0"/>
                    <a:pt x="1574419" y="13144"/>
                    <a:pt x="1597816" y="36541"/>
                  </a:cubicBezTo>
                  <a:cubicBezTo>
                    <a:pt x="1621213" y="59938"/>
                    <a:pt x="1634358" y="91672"/>
                    <a:pt x="1634358" y="124760"/>
                  </a:cubicBezTo>
                  <a:lnTo>
                    <a:pt x="1634358" y="146515"/>
                  </a:lnTo>
                  <a:cubicBezTo>
                    <a:pt x="1634358" y="215418"/>
                    <a:pt x="1578501" y="271275"/>
                    <a:pt x="1509598" y="271275"/>
                  </a:cubicBezTo>
                  <a:lnTo>
                    <a:pt x="124760" y="271275"/>
                  </a:lnTo>
                  <a:cubicBezTo>
                    <a:pt x="55857" y="271275"/>
                    <a:pt x="0" y="215418"/>
                    <a:pt x="0" y="146515"/>
                  </a:cubicBezTo>
                  <a:lnTo>
                    <a:pt x="0" y="124760"/>
                  </a:lnTo>
                  <a:cubicBezTo>
                    <a:pt x="0" y="91672"/>
                    <a:pt x="13144" y="59938"/>
                    <a:pt x="36541" y="36541"/>
                  </a:cubicBezTo>
                  <a:cubicBezTo>
                    <a:pt x="59938" y="13144"/>
                    <a:pt x="91672" y="0"/>
                    <a:pt x="124760" y="0"/>
                  </a:cubicBezTo>
                  <a:close/>
                </a:path>
              </a:pathLst>
            </a:custGeom>
            <a:solidFill>
              <a:srgbClr val="017077"/>
            </a:solidFill>
          </p:spPr>
        </p:sp>
        <p:sp>
          <p:nvSpPr>
            <p:cNvPr name="TextBox 7" id="7"/>
            <p:cNvSpPr txBox="true"/>
            <p:nvPr/>
          </p:nvSpPr>
          <p:spPr>
            <a:xfrm>
              <a:off x="0" y="-47625"/>
              <a:ext cx="1634358" cy="318900"/>
            </a:xfrm>
            <a:prstGeom prst="rect">
              <a:avLst/>
            </a:prstGeom>
          </p:spPr>
          <p:txBody>
            <a:bodyPr anchor="ctr" rtlCol="false" tIns="50800" lIns="50800" bIns="50800" rIns="50800"/>
            <a:lstStyle/>
            <a:p>
              <a:pPr algn="ctr">
                <a:lnSpc>
                  <a:spcPts val="3359"/>
                </a:lnSpc>
              </a:pPr>
            </a:p>
          </p:txBody>
        </p:sp>
      </p:grpSp>
      <p:sp>
        <p:nvSpPr>
          <p:cNvPr name="TextBox 8" id="8"/>
          <p:cNvSpPr txBox="true"/>
          <p:nvPr/>
        </p:nvSpPr>
        <p:spPr>
          <a:xfrm rot="0">
            <a:off x="1726731" y="3921784"/>
            <a:ext cx="15211590" cy="7435215"/>
          </a:xfrm>
          <a:prstGeom prst="rect">
            <a:avLst/>
          </a:prstGeom>
        </p:spPr>
        <p:txBody>
          <a:bodyPr anchor="t" rtlCol="false" tIns="0" lIns="0" bIns="0" rIns="0">
            <a:spAutoFit/>
          </a:bodyPr>
          <a:lstStyle/>
          <a:p>
            <a:pPr algn="just" marL="777240" indent="-388620" lvl="1">
              <a:lnSpc>
                <a:spcPts val="4500"/>
              </a:lnSpc>
              <a:buFont typeface="Arial"/>
              <a:buChar char="•"/>
            </a:pPr>
            <a:r>
              <a:rPr lang="en-US" b="true" sz="3600">
                <a:solidFill>
                  <a:srgbClr val="000000"/>
                </a:solidFill>
                <a:latin typeface="Source Sans Pro Bold"/>
                <a:ea typeface="Source Sans Pro Bold"/>
                <a:cs typeface="Source Sans Pro Bold"/>
                <a:sym typeface="Source Sans Pro Bold"/>
              </a:rPr>
              <a:t>Feeding is not scheduled consistently, leading to growth disorders, nutritional deficiencies, and decreased livestock productivity.</a:t>
            </a:r>
          </a:p>
          <a:p>
            <a:pPr algn="just">
              <a:lnSpc>
                <a:spcPts val="4500"/>
              </a:lnSpc>
            </a:pPr>
          </a:p>
          <a:p>
            <a:pPr algn="just" marL="777240" indent="-388620" lvl="1">
              <a:lnSpc>
                <a:spcPts val="4500"/>
              </a:lnSpc>
              <a:buFont typeface="Arial"/>
              <a:buChar char="•"/>
            </a:pPr>
            <a:r>
              <a:rPr lang="en-US" b="true" sz="3600">
                <a:solidFill>
                  <a:srgbClr val="000000"/>
                </a:solidFill>
                <a:latin typeface="Source Sans Pro Bold"/>
                <a:ea typeface="Source Sans Pro Bold"/>
                <a:cs typeface="Source Sans Pro Bold"/>
                <a:sym typeface="Source Sans Pro Bold"/>
              </a:rPr>
              <a:t>Feed stock monitoring is still done visually, which risks miscalculations and sudden feed shortages.</a:t>
            </a:r>
          </a:p>
          <a:p>
            <a:pPr algn="just">
              <a:lnSpc>
                <a:spcPts val="4500"/>
              </a:lnSpc>
            </a:pPr>
          </a:p>
          <a:p>
            <a:pPr algn="just" marL="777240" indent="-388620" lvl="1">
              <a:lnSpc>
                <a:spcPts val="4500"/>
              </a:lnSpc>
              <a:buFont typeface="Arial"/>
              <a:buChar char="•"/>
            </a:pPr>
            <a:r>
              <a:rPr lang="en-US" b="true" sz="3600">
                <a:solidFill>
                  <a:srgbClr val="000000"/>
                </a:solidFill>
                <a:latin typeface="Source Sans Pro Bold"/>
                <a:ea typeface="Source Sans Pro Bold"/>
                <a:cs typeface="Source Sans Pro Bold"/>
                <a:sym typeface="Source Sans Pro Bold"/>
              </a:rPr>
              <a:t>Dependence on the presence of farmers and manual labor causes delays in feeding, especially during bad weather or high workload conditions.</a:t>
            </a:r>
          </a:p>
          <a:p>
            <a:pPr algn="just">
              <a:lnSpc>
                <a:spcPts val="4500"/>
              </a:lnSpc>
            </a:pPr>
          </a:p>
          <a:p>
            <a:pPr algn="just">
              <a:lnSpc>
                <a:spcPts val="4500"/>
              </a:lnSpc>
            </a:pPr>
          </a:p>
          <a:p>
            <a:pPr algn="just">
              <a:lnSpc>
                <a:spcPts val="4500"/>
              </a:lnSpc>
            </a:pPr>
          </a:p>
          <a:p>
            <a:pPr algn="just">
              <a:lnSpc>
                <a:spcPts val="4500"/>
              </a:lnSpc>
            </a:pPr>
          </a:p>
        </p:txBody>
      </p:sp>
      <p:sp>
        <p:nvSpPr>
          <p:cNvPr name="TextBox 9" id="9"/>
          <p:cNvSpPr txBox="true"/>
          <p:nvPr/>
        </p:nvSpPr>
        <p:spPr>
          <a:xfrm rot="0">
            <a:off x="16012238" y="9105900"/>
            <a:ext cx="1454405" cy="626072"/>
          </a:xfrm>
          <a:prstGeom prst="rect">
            <a:avLst/>
          </a:prstGeom>
        </p:spPr>
        <p:txBody>
          <a:bodyPr anchor="t" rtlCol="false" tIns="0" lIns="0" bIns="0" rIns="0">
            <a:spAutoFit/>
          </a:bodyPr>
          <a:lstStyle/>
          <a:p>
            <a:pPr algn="ctr">
              <a:lnSpc>
                <a:spcPts val="5177"/>
              </a:lnSpc>
            </a:pPr>
            <a:r>
              <a:rPr lang="en-US" sz="3697">
                <a:solidFill>
                  <a:srgbClr val="CFC5C4"/>
                </a:solidFill>
                <a:latin typeface="League Spartan"/>
                <a:ea typeface="League Spartan"/>
                <a:cs typeface="League Spartan"/>
                <a:sym typeface="League Spartan"/>
              </a:rPr>
              <a:t>04</a:t>
            </a:r>
          </a:p>
        </p:txBody>
      </p:sp>
      <p:sp>
        <p:nvSpPr>
          <p:cNvPr name="TextBox 10" id="10"/>
          <p:cNvSpPr txBox="true"/>
          <p:nvPr/>
        </p:nvSpPr>
        <p:spPr>
          <a:xfrm rot="0">
            <a:off x="1707681" y="1015096"/>
            <a:ext cx="3952205" cy="405765"/>
          </a:xfrm>
          <a:prstGeom prst="rect">
            <a:avLst/>
          </a:prstGeom>
        </p:spPr>
        <p:txBody>
          <a:bodyPr anchor="t" rtlCol="false" tIns="0" lIns="0" bIns="0" rIns="0">
            <a:spAutoFit/>
          </a:bodyPr>
          <a:lstStyle/>
          <a:p>
            <a:pPr algn="l">
              <a:lnSpc>
                <a:spcPts val="3359"/>
              </a:lnSpc>
            </a:pPr>
            <a:r>
              <a:rPr lang="en-US" sz="2400">
                <a:solidFill>
                  <a:srgbClr val="FFFFFF"/>
                </a:solidFill>
                <a:latin typeface="Source Sans Pro"/>
                <a:ea typeface="Source Sans Pro"/>
                <a:cs typeface="Source Sans Pro"/>
                <a:sym typeface="Source Sans Pro"/>
              </a:rPr>
              <a:t>INSTITUT TEKNOLOGI DEL</a:t>
            </a:r>
          </a:p>
        </p:txBody>
      </p:sp>
      <p:sp>
        <p:nvSpPr>
          <p:cNvPr name="TextBox 11" id="11"/>
          <p:cNvSpPr txBox="true"/>
          <p:nvPr/>
        </p:nvSpPr>
        <p:spPr>
          <a:xfrm rot="0">
            <a:off x="1131695" y="2543930"/>
            <a:ext cx="10880967" cy="1025525"/>
          </a:xfrm>
          <a:prstGeom prst="rect">
            <a:avLst/>
          </a:prstGeom>
        </p:spPr>
        <p:txBody>
          <a:bodyPr anchor="t" rtlCol="false" tIns="0" lIns="0" bIns="0" rIns="0">
            <a:spAutoFit/>
          </a:bodyPr>
          <a:lstStyle/>
          <a:p>
            <a:pPr algn="l">
              <a:lnSpc>
                <a:spcPts val="8125"/>
              </a:lnSpc>
            </a:pPr>
            <a:r>
              <a:rPr lang="en-US" sz="6500">
                <a:solidFill>
                  <a:srgbClr val="16BEC7"/>
                </a:solidFill>
                <a:latin typeface="League Spartan"/>
                <a:ea typeface="League Spartan"/>
                <a:cs typeface="League Spartan"/>
                <a:sym typeface="League Spartan"/>
              </a:rPr>
              <a:t>BACKGROUND</a:t>
            </a:r>
          </a:p>
        </p:txBody>
      </p:sp>
      <p:sp>
        <p:nvSpPr>
          <p:cNvPr name="Freeform 12" id="12"/>
          <p:cNvSpPr/>
          <p:nvPr/>
        </p:nvSpPr>
        <p:spPr>
          <a:xfrm flipH="true" flipV="false" rot="0">
            <a:off x="0" y="7385165"/>
            <a:ext cx="2247471" cy="2901835"/>
          </a:xfrm>
          <a:custGeom>
            <a:avLst/>
            <a:gdLst/>
            <a:ahLst/>
            <a:cxnLst/>
            <a:rect r="r" b="b" t="t" l="l"/>
            <a:pathLst>
              <a:path h="2901835" w="2247471">
                <a:moveTo>
                  <a:pt x="2247471" y="0"/>
                </a:moveTo>
                <a:lnTo>
                  <a:pt x="0" y="0"/>
                </a:lnTo>
                <a:lnTo>
                  <a:pt x="0" y="2901835"/>
                </a:lnTo>
                <a:lnTo>
                  <a:pt x="2247471" y="2901835"/>
                </a:lnTo>
                <a:lnTo>
                  <a:pt x="22474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961937" y="947715"/>
            <a:ext cx="558420" cy="610539"/>
          </a:xfrm>
          <a:custGeom>
            <a:avLst/>
            <a:gdLst/>
            <a:ahLst/>
            <a:cxnLst/>
            <a:rect r="r" b="b" t="t" l="l"/>
            <a:pathLst>
              <a:path h="610539" w="558420">
                <a:moveTo>
                  <a:pt x="0" y="0"/>
                </a:moveTo>
                <a:lnTo>
                  <a:pt x="558420" y="0"/>
                </a:lnTo>
                <a:lnTo>
                  <a:pt x="558420" y="610539"/>
                </a:lnTo>
                <a:lnTo>
                  <a:pt x="0" y="610539"/>
                </a:lnTo>
                <a:lnTo>
                  <a:pt x="0" y="0"/>
                </a:lnTo>
                <a:close/>
              </a:path>
            </a:pathLst>
          </a:custGeom>
          <a:blipFill>
            <a:blip r:embed="rId7"/>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true" flipV="true" rot="0">
            <a:off x="16182578" y="8582145"/>
            <a:ext cx="1511485" cy="1409460"/>
          </a:xfrm>
          <a:custGeom>
            <a:avLst/>
            <a:gdLst/>
            <a:ahLst/>
            <a:cxnLst/>
            <a:rect r="r" b="b" t="t" l="l"/>
            <a:pathLst>
              <a:path h="1409460" w="1511485">
                <a:moveTo>
                  <a:pt x="1511486" y="1409460"/>
                </a:moveTo>
                <a:lnTo>
                  <a:pt x="0" y="1409460"/>
                </a:lnTo>
                <a:lnTo>
                  <a:pt x="0" y="0"/>
                </a:lnTo>
                <a:lnTo>
                  <a:pt x="1511486" y="0"/>
                </a:lnTo>
                <a:lnTo>
                  <a:pt x="1511486" y="14094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3924757" y="0"/>
            <a:ext cx="4363243" cy="5633626"/>
          </a:xfrm>
          <a:custGeom>
            <a:avLst/>
            <a:gdLst/>
            <a:ahLst/>
            <a:cxnLst/>
            <a:rect r="r" b="b" t="t" l="l"/>
            <a:pathLst>
              <a:path h="5633626" w="4363243">
                <a:moveTo>
                  <a:pt x="0" y="5633626"/>
                </a:moveTo>
                <a:lnTo>
                  <a:pt x="4363243" y="5633626"/>
                </a:lnTo>
                <a:lnTo>
                  <a:pt x="4363243" y="0"/>
                </a:lnTo>
                <a:lnTo>
                  <a:pt x="0" y="0"/>
                </a:lnTo>
                <a:lnTo>
                  <a:pt x="0" y="5633626"/>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545565" y="723900"/>
            <a:ext cx="6205452" cy="1029996"/>
            <a:chOff x="0" y="0"/>
            <a:chExt cx="1634358" cy="271275"/>
          </a:xfrm>
        </p:grpSpPr>
        <p:sp>
          <p:nvSpPr>
            <p:cNvPr name="Freeform 6" id="6"/>
            <p:cNvSpPr/>
            <p:nvPr/>
          </p:nvSpPr>
          <p:spPr>
            <a:xfrm flipH="false" flipV="false" rot="0">
              <a:off x="0" y="0"/>
              <a:ext cx="1634358" cy="271275"/>
            </a:xfrm>
            <a:custGeom>
              <a:avLst/>
              <a:gdLst/>
              <a:ahLst/>
              <a:cxnLst/>
              <a:rect r="r" b="b" t="t" l="l"/>
              <a:pathLst>
                <a:path h="271275" w="1634358">
                  <a:moveTo>
                    <a:pt x="124760" y="0"/>
                  </a:moveTo>
                  <a:lnTo>
                    <a:pt x="1509598" y="0"/>
                  </a:lnTo>
                  <a:cubicBezTo>
                    <a:pt x="1542686" y="0"/>
                    <a:pt x="1574419" y="13144"/>
                    <a:pt x="1597816" y="36541"/>
                  </a:cubicBezTo>
                  <a:cubicBezTo>
                    <a:pt x="1621213" y="59938"/>
                    <a:pt x="1634358" y="91672"/>
                    <a:pt x="1634358" y="124760"/>
                  </a:cubicBezTo>
                  <a:lnTo>
                    <a:pt x="1634358" y="146515"/>
                  </a:lnTo>
                  <a:cubicBezTo>
                    <a:pt x="1634358" y="215418"/>
                    <a:pt x="1578501" y="271275"/>
                    <a:pt x="1509598" y="271275"/>
                  </a:cubicBezTo>
                  <a:lnTo>
                    <a:pt x="124760" y="271275"/>
                  </a:lnTo>
                  <a:cubicBezTo>
                    <a:pt x="55857" y="271275"/>
                    <a:pt x="0" y="215418"/>
                    <a:pt x="0" y="146515"/>
                  </a:cubicBezTo>
                  <a:lnTo>
                    <a:pt x="0" y="124760"/>
                  </a:lnTo>
                  <a:cubicBezTo>
                    <a:pt x="0" y="91672"/>
                    <a:pt x="13144" y="59938"/>
                    <a:pt x="36541" y="36541"/>
                  </a:cubicBezTo>
                  <a:cubicBezTo>
                    <a:pt x="59938" y="13144"/>
                    <a:pt x="91672" y="0"/>
                    <a:pt x="124760" y="0"/>
                  </a:cubicBezTo>
                  <a:close/>
                </a:path>
              </a:pathLst>
            </a:custGeom>
            <a:solidFill>
              <a:srgbClr val="017077"/>
            </a:solidFill>
          </p:spPr>
        </p:sp>
        <p:sp>
          <p:nvSpPr>
            <p:cNvPr name="TextBox 7" id="7"/>
            <p:cNvSpPr txBox="true"/>
            <p:nvPr/>
          </p:nvSpPr>
          <p:spPr>
            <a:xfrm>
              <a:off x="0" y="-47625"/>
              <a:ext cx="1634358" cy="318900"/>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1150950" y="4246000"/>
            <a:ext cx="724871" cy="72487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CFC5C4"/>
            </a:solidFill>
          </p:spPr>
        </p:sp>
        <p:sp>
          <p:nvSpPr>
            <p:cNvPr name="TextBox 10" id="10"/>
            <p:cNvSpPr txBox="true"/>
            <p:nvPr/>
          </p:nvSpPr>
          <p:spPr>
            <a:xfrm>
              <a:off x="139700" y="92075"/>
              <a:ext cx="533400" cy="581025"/>
            </a:xfrm>
            <a:prstGeom prst="rect">
              <a:avLst/>
            </a:prstGeom>
          </p:spPr>
          <p:txBody>
            <a:bodyPr anchor="ctr" rtlCol="false" tIns="50800" lIns="50800" bIns="50800" rIns="50800"/>
            <a:lstStyle/>
            <a:p>
              <a:pPr algn="ctr">
                <a:lnSpc>
                  <a:spcPts val="3359"/>
                </a:lnSpc>
              </a:pPr>
            </a:p>
          </p:txBody>
        </p:sp>
      </p:grpSp>
      <p:sp>
        <p:nvSpPr>
          <p:cNvPr name="TextBox 11" id="11"/>
          <p:cNvSpPr txBox="true"/>
          <p:nvPr/>
        </p:nvSpPr>
        <p:spPr>
          <a:xfrm rot="0">
            <a:off x="16219581" y="9105900"/>
            <a:ext cx="1039719" cy="626072"/>
          </a:xfrm>
          <a:prstGeom prst="rect">
            <a:avLst/>
          </a:prstGeom>
        </p:spPr>
        <p:txBody>
          <a:bodyPr anchor="t" rtlCol="false" tIns="0" lIns="0" bIns="0" rIns="0">
            <a:spAutoFit/>
          </a:bodyPr>
          <a:lstStyle/>
          <a:p>
            <a:pPr algn="ctr">
              <a:lnSpc>
                <a:spcPts val="5177"/>
              </a:lnSpc>
            </a:pPr>
            <a:r>
              <a:rPr lang="en-US" sz="3697">
                <a:solidFill>
                  <a:srgbClr val="CFC5C4"/>
                </a:solidFill>
                <a:latin typeface="League Spartan"/>
                <a:ea typeface="League Spartan"/>
                <a:cs typeface="League Spartan"/>
                <a:sym typeface="League Spartan"/>
              </a:rPr>
              <a:t>05</a:t>
            </a:r>
          </a:p>
        </p:txBody>
      </p:sp>
      <p:sp>
        <p:nvSpPr>
          <p:cNvPr name="TextBox 12" id="12"/>
          <p:cNvSpPr txBox="true"/>
          <p:nvPr/>
        </p:nvSpPr>
        <p:spPr>
          <a:xfrm rot="0">
            <a:off x="1707681" y="1015096"/>
            <a:ext cx="3952205" cy="405765"/>
          </a:xfrm>
          <a:prstGeom prst="rect">
            <a:avLst/>
          </a:prstGeom>
        </p:spPr>
        <p:txBody>
          <a:bodyPr anchor="t" rtlCol="false" tIns="0" lIns="0" bIns="0" rIns="0">
            <a:spAutoFit/>
          </a:bodyPr>
          <a:lstStyle/>
          <a:p>
            <a:pPr algn="l">
              <a:lnSpc>
                <a:spcPts val="3359"/>
              </a:lnSpc>
            </a:pPr>
            <a:r>
              <a:rPr lang="en-US" sz="2400">
                <a:solidFill>
                  <a:srgbClr val="FFFFFF"/>
                </a:solidFill>
                <a:latin typeface="Source Sans Pro"/>
                <a:ea typeface="Source Sans Pro"/>
                <a:cs typeface="Source Sans Pro"/>
                <a:sym typeface="Source Sans Pro"/>
              </a:rPr>
              <a:t>INSTITUT TEKNOLOGI DEL</a:t>
            </a:r>
          </a:p>
        </p:txBody>
      </p:sp>
      <p:sp>
        <p:nvSpPr>
          <p:cNvPr name="TextBox 13" id="13"/>
          <p:cNvSpPr txBox="true"/>
          <p:nvPr/>
        </p:nvSpPr>
        <p:spPr>
          <a:xfrm rot="0">
            <a:off x="1116764" y="2543930"/>
            <a:ext cx="6179944" cy="1025525"/>
          </a:xfrm>
          <a:prstGeom prst="rect">
            <a:avLst/>
          </a:prstGeom>
        </p:spPr>
        <p:txBody>
          <a:bodyPr anchor="t" rtlCol="false" tIns="0" lIns="0" bIns="0" rIns="0">
            <a:spAutoFit/>
          </a:bodyPr>
          <a:lstStyle/>
          <a:p>
            <a:pPr algn="l">
              <a:lnSpc>
                <a:spcPts val="8125"/>
              </a:lnSpc>
            </a:pPr>
            <a:r>
              <a:rPr lang="en-US" sz="6500">
                <a:solidFill>
                  <a:srgbClr val="16BEC7"/>
                </a:solidFill>
                <a:latin typeface="League Spartan"/>
                <a:ea typeface="League Spartan"/>
                <a:cs typeface="League Spartan"/>
                <a:sym typeface="League Spartan"/>
              </a:rPr>
              <a:t> PURPOSE</a:t>
            </a:r>
          </a:p>
        </p:txBody>
      </p:sp>
      <p:sp>
        <p:nvSpPr>
          <p:cNvPr name="TextBox 14" id="14"/>
          <p:cNvSpPr txBox="true"/>
          <p:nvPr/>
        </p:nvSpPr>
        <p:spPr>
          <a:xfrm rot="0">
            <a:off x="2121528" y="4033766"/>
            <a:ext cx="14617913" cy="1899285"/>
          </a:xfrm>
          <a:prstGeom prst="rect">
            <a:avLst/>
          </a:prstGeom>
        </p:spPr>
        <p:txBody>
          <a:bodyPr anchor="t" rtlCol="false" tIns="0" lIns="0" bIns="0" rIns="0">
            <a:spAutoFit/>
          </a:bodyPr>
          <a:lstStyle/>
          <a:p>
            <a:pPr algn="l">
              <a:lnSpc>
                <a:spcPts val="5039"/>
              </a:lnSpc>
            </a:pPr>
            <a:r>
              <a:rPr lang="en-US" sz="3599" b="true">
                <a:solidFill>
                  <a:srgbClr val="000000"/>
                </a:solidFill>
                <a:latin typeface="Source Sans Pro Bold"/>
                <a:ea typeface="Source Sans Pro Bold"/>
                <a:cs typeface="Source Sans Pro Bold"/>
                <a:sym typeface="Source Sans Pro Bold"/>
              </a:rPr>
              <a:t>Improving the feeding system by implementing an automated schedule-based system that operates without the need for manual intervention from the farmer.</a:t>
            </a:r>
          </a:p>
        </p:txBody>
      </p:sp>
      <p:sp>
        <p:nvSpPr>
          <p:cNvPr name="TextBox 15" id="15"/>
          <p:cNvSpPr txBox="true"/>
          <p:nvPr/>
        </p:nvSpPr>
        <p:spPr>
          <a:xfrm rot="0">
            <a:off x="1122775" y="4350505"/>
            <a:ext cx="781222" cy="389255"/>
          </a:xfrm>
          <a:prstGeom prst="rect">
            <a:avLst/>
          </a:prstGeom>
        </p:spPr>
        <p:txBody>
          <a:bodyPr anchor="t" rtlCol="false" tIns="0" lIns="0" bIns="0" rIns="0">
            <a:spAutoFit/>
          </a:bodyPr>
          <a:lstStyle/>
          <a:p>
            <a:pPr algn="ctr">
              <a:lnSpc>
                <a:spcPts val="3220"/>
              </a:lnSpc>
            </a:pPr>
            <a:r>
              <a:rPr lang="en-US" sz="2300" b="true">
                <a:solidFill>
                  <a:srgbClr val="005359"/>
                </a:solidFill>
                <a:latin typeface="Source Sans Pro Bold"/>
                <a:ea typeface="Source Sans Pro Bold"/>
                <a:cs typeface="Source Sans Pro Bold"/>
                <a:sym typeface="Source Sans Pro Bold"/>
              </a:rPr>
              <a:t>1.1</a:t>
            </a:r>
          </a:p>
        </p:txBody>
      </p:sp>
      <p:grpSp>
        <p:nvGrpSpPr>
          <p:cNvPr name="Group 16" id="16"/>
          <p:cNvGrpSpPr/>
          <p:nvPr/>
        </p:nvGrpSpPr>
        <p:grpSpPr>
          <a:xfrm rot="0">
            <a:off x="1150950" y="6851914"/>
            <a:ext cx="724871" cy="72487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CFC5C4"/>
            </a:solidFill>
          </p:spPr>
        </p:sp>
        <p:sp>
          <p:nvSpPr>
            <p:cNvPr name="TextBox 18" id="18"/>
            <p:cNvSpPr txBox="true"/>
            <p:nvPr/>
          </p:nvSpPr>
          <p:spPr>
            <a:xfrm>
              <a:off x="139700" y="92075"/>
              <a:ext cx="533400" cy="581025"/>
            </a:xfrm>
            <a:prstGeom prst="rect">
              <a:avLst/>
            </a:prstGeom>
          </p:spPr>
          <p:txBody>
            <a:bodyPr anchor="ctr" rtlCol="false" tIns="50800" lIns="50800" bIns="50800" rIns="50800"/>
            <a:lstStyle/>
            <a:p>
              <a:pPr algn="ctr">
                <a:lnSpc>
                  <a:spcPts val="3359"/>
                </a:lnSpc>
              </a:pPr>
            </a:p>
          </p:txBody>
        </p:sp>
      </p:grpSp>
      <p:sp>
        <p:nvSpPr>
          <p:cNvPr name="TextBox 19" id="19"/>
          <p:cNvSpPr txBox="true"/>
          <p:nvPr/>
        </p:nvSpPr>
        <p:spPr>
          <a:xfrm rot="0">
            <a:off x="2247471" y="6602036"/>
            <a:ext cx="14318621" cy="3175635"/>
          </a:xfrm>
          <a:prstGeom prst="rect">
            <a:avLst/>
          </a:prstGeom>
        </p:spPr>
        <p:txBody>
          <a:bodyPr anchor="t" rtlCol="false" tIns="0" lIns="0" bIns="0" rIns="0">
            <a:spAutoFit/>
          </a:bodyPr>
          <a:lstStyle/>
          <a:p>
            <a:pPr algn="l">
              <a:lnSpc>
                <a:spcPts val="5039"/>
              </a:lnSpc>
            </a:pPr>
            <a:r>
              <a:rPr lang="en-US" sz="3599" b="true">
                <a:solidFill>
                  <a:srgbClr val="000000"/>
                </a:solidFill>
                <a:latin typeface="Source Sans Pro Bold"/>
                <a:ea typeface="Source Sans Pro Bold"/>
                <a:cs typeface="Source Sans Pro Bold"/>
                <a:sym typeface="Source Sans Pro Bold"/>
              </a:rPr>
              <a:t>Facilitates farmers in scheduling feed times through Telegram control and provides notifications when feed stock is running low.</a:t>
            </a:r>
          </a:p>
          <a:p>
            <a:pPr algn="l">
              <a:lnSpc>
                <a:spcPts val="5039"/>
              </a:lnSpc>
            </a:pPr>
          </a:p>
          <a:p>
            <a:pPr algn="l">
              <a:lnSpc>
                <a:spcPts val="5039"/>
              </a:lnSpc>
            </a:pPr>
          </a:p>
          <a:p>
            <a:pPr algn="l">
              <a:lnSpc>
                <a:spcPts val="5039"/>
              </a:lnSpc>
            </a:pPr>
          </a:p>
        </p:txBody>
      </p:sp>
      <p:sp>
        <p:nvSpPr>
          <p:cNvPr name="TextBox 20" id="20"/>
          <p:cNvSpPr txBox="true"/>
          <p:nvPr/>
        </p:nvSpPr>
        <p:spPr>
          <a:xfrm rot="0">
            <a:off x="1147435" y="6995910"/>
            <a:ext cx="781222" cy="389255"/>
          </a:xfrm>
          <a:prstGeom prst="rect">
            <a:avLst/>
          </a:prstGeom>
        </p:spPr>
        <p:txBody>
          <a:bodyPr anchor="t" rtlCol="false" tIns="0" lIns="0" bIns="0" rIns="0">
            <a:spAutoFit/>
          </a:bodyPr>
          <a:lstStyle/>
          <a:p>
            <a:pPr algn="ctr">
              <a:lnSpc>
                <a:spcPts val="3220"/>
              </a:lnSpc>
            </a:pPr>
            <a:r>
              <a:rPr lang="en-US" sz="2300" b="true">
                <a:solidFill>
                  <a:srgbClr val="005359"/>
                </a:solidFill>
                <a:latin typeface="Source Sans Pro Bold"/>
                <a:ea typeface="Source Sans Pro Bold"/>
                <a:cs typeface="Source Sans Pro Bold"/>
                <a:sym typeface="Source Sans Pro Bold"/>
              </a:rPr>
              <a:t>1.2</a:t>
            </a:r>
          </a:p>
        </p:txBody>
      </p:sp>
      <p:sp>
        <p:nvSpPr>
          <p:cNvPr name="Freeform 21" id="21"/>
          <p:cNvSpPr/>
          <p:nvPr/>
        </p:nvSpPr>
        <p:spPr>
          <a:xfrm flipH="true" flipV="false" rot="0">
            <a:off x="0" y="7385165"/>
            <a:ext cx="2247471" cy="2901835"/>
          </a:xfrm>
          <a:custGeom>
            <a:avLst/>
            <a:gdLst/>
            <a:ahLst/>
            <a:cxnLst/>
            <a:rect r="r" b="b" t="t" l="l"/>
            <a:pathLst>
              <a:path h="2901835" w="2247471">
                <a:moveTo>
                  <a:pt x="2247471" y="0"/>
                </a:moveTo>
                <a:lnTo>
                  <a:pt x="0" y="0"/>
                </a:lnTo>
                <a:lnTo>
                  <a:pt x="0" y="2901835"/>
                </a:lnTo>
                <a:lnTo>
                  <a:pt x="2247471" y="2901835"/>
                </a:lnTo>
                <a:lnTo>
                  <a:pt x="22474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961937" y="947715"/>
            <a:ext cx="558420" cy="610539"/>
          </a:xfrm>
          <a:custGeom>
            <a:avLst/>
            <a:gdLst/>
            <a:ahLst/>
            <a:cxnLst/>
            <a:rect r="r" b="b" t="t" l="l"/>
            <a:pathLst>
              <a:path h="610539" w="558420">
                <a:moveTo>
                  <a:pt x="0" y="0"/>
                </a:moveTo>
                <a:lnTo>
                  <a:pt x="558420" y="0"/>
                </a:lnTo>
                <a:lnTo>
                  <a:pt x="558420" y="610539"/>
                </a:lnTo>
                <a:lnTo>
                  <a:pt x="0" y="610539"/>
                </a:lnTo>
                <a:lnTo>
                  <a:pt x="0" y="0"/>
                </a:lnTo>
                <a:close/>
              </a:path>
            </a:pathLst>
          </a:custGeom>
          <a:blipFill>
            <a:blip r:embed="rId7"/>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true" flipV="true" rot="0">
            <a:off x="16182578" y="8582145"/>
            <a:ext cx="1511485" cy="1409460"/>
          </a:xfrm>
          <a:custGeom>
            <a:avLst/>
            <a:gdLst/>
            <a:ahLst/>
            <a:cxnLst/>
            <a:rect r="r" b="b" t="t" l="l"/>
            <a:pathLst>
              <a:path h="1409460" w="1511485">
                <a:moveTo>
                  <a:pt x="1511486" y="1409460"/>
                </a:moveTo>
                <a:lnTo>
                  <a:pt x="0" y="1409460"/>
                </a:lnTo>
                <a:lnTo>
                  <a:pt x="0" y="0"/>
                </a:lnTo>
                <a:lnTo>
                  <a:pt x="1511486" y="0"/>
                </a:lnTo>
                <a:lnTo>
                  <a:pt x="1511486" y="14094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3924757" y="0"/>
            <a:ext cx="4363243" cy="5633626"/>
          </a:xfrm>
          <a:custGeom>
            <a:avLst/>
            <a:gdLst/>
            <a:ahLst/>
            <a:cxnLst/>
            <a:rect r="r" b="b" t="t" l="l"/>
            <a:pathLst>
              <a:path h="5633626" w="4363243">
                <a:moveTo>
                  <a:pt x="0" y="5633626"/>
                </a:moveTo>
                <a:lnTo>
                  <a:pt x="4363243" y="5633626"/>
                </a:lnTo>
                <a:lnTo>
                  <a:pt x="4363243" y="0"/>
                </a:lnTo>
                <a:lnTo>
                  <a:pt x="0" y="0"/>
                </a:lnTo>
                <a:lnTo>
                  <a:pt x="0" y="5633626"/>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545565" y="723900"/>
            <a:ext cx="6205452" cy="1029996"/>
            <a:chOff x="0" y="0"/>
            <a:chExt cx="1634358" cy="271275"/>
          </a:xfrm>
        </p:grpSpPr>
        <p:sp>
          <p:nvSpPr>
            <p:cNvPr name="Freeform 6" id="6"/>
            <p:cNvSpPr/>
            <p:nvPr/>
          </p:nvSpPr>
          <p:spPr>
            <a:xfrm flipH="false" flipV="false" rot="0">
              <a:off x="0" y="0"/>
              <a:ext cx="1634358" cy="271275"/>
            </a:xfrm>
            <a:custGeom>
              <a:avLst/>
              <a:gdLst/>
              <a:ahLst/>
              <a:cxnLst/>
              <a:rect r="r" b="b" t="t" l="l"/>
              <a:pathLst>
                <a:path h="271275" w="1634358">
                  <a:moveTo>
                    <a:pt x="124760" y="0"/>
                  </a:moveTo>
                  <a:lnTo>
                    <a:pt x="1509598" y="0"/>
                  </a:lnTo>
                  <a:cubicBezTo>
                    <a:pt x="1542686" y="0"/>
                    <a:pt x="1574419" y="13144"/>
                    <a:pt x="1597816" y="36541"/>
                  </a:cubicBezTo>
                  <a:cubicBezTo>
                    <a:pt x="1621213" y="59938"/>
                    <a:pt x="1634358" y="91672"/>
                    <a:pt x="1634358" y="124760"/>
                  </a:cubicBezTo>
                  <a:lnTo>
                    <a:pt x="1634358" y="146515"/>
                  </a:lnTo>
                  <a:cubicBezTo>
                    <a:pt x="1634358" y="215418"/>
                    <a:pt x="1578501" y="271275"/>
                    <a:pt x="1509598" y="271275"/>
                  </a:cubicBezTo>
                  <a:lnTo>
                    <a:pt x="124760" y="271275"/>
                  </a:lnTo>
                  <a:cubicBezTo>
                    <a:pt x="55857" y="271275"/>
                    <a:pt x="0" y="215418"/>
                    <a:pt x="0" y="146515"/>
                  </a:cubicBezTo>
                  <a:lnTo>
                    <a:pt x="0" y="124760"/>
                  </a:lnTo>
                  <a:cubicBezTo>
                    <a:pt x="0" y="91672"/>
                    <a:pt x="13144" y="59938"/>
                    <a:pt x="36541" y="36541"/>
                  </a:cubicBezTo>
                  <a:cubicBezTo>
                    <a:pt x="59938" y="13144"/>
                    <a:pt x="91672" y="0"/>
                    <a:pt x="124760" y="0"/>
                  </a:cubicBezTo>
                  <a:close/>
                </a:path>
              </a:pathLst>
            </a:custGeom>
            <a:solidFill>
              <a:srgbClr val="017077"/>
            </a:solidFill>
          </p:spPr>
        </p:sp>
        <p:sp>
          <p:nvSpPr>
            <p:cNvPr name="TextBox 7" id="7"/>
            <p:cNvSpPr txBox="true"/>
            <p:nvPr/>
          </p:nvSpPr>
          <p:spPr>
            <a:xfrm>
              <a:off x="0" y="-47625"/>
              <a:ext cx="1634358" cy="318900"/>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1028700" y="4054380"/>
            <a:ext cx="724871" cy="72487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CFC5C4"/>
            </a:solidFill>
          </p:spPr>
        </p:sp>
        <p:sp>
          <p:nvSpPr>
            <p:cNvPr name="TextBox 10" id="10"/>
            <p:cNvSpPr txBox="true"/>
            <p:nvPr/>
          </p:nvSpPr>
          <p:spPr>
            <a:xfrm>
              <a:off x="139700" y="92075"/>
              <a:ext cx="533400" cy="581025"/>
            </a:xfrm>
            <a:prstGeom prst="rect">
              <a:avLst/>
            </a:prstGeom>
          </p:spPr>
          <p:txBody>
            <a:bodyPr anchor="ctr" rtlCol="false" tIns="50800" lIns="50800" bIns="50800" rIns="50800"/>
            <a:lstStyle/>
            <a:p>
              <a:pPr algn="ctr">
                <a:lnSpc>
                  <a:spcPts val="3359"/>
                </a:lnSpc>
              </a:pPr>
            </a:p>
          </p:txBody>
        </p:sp>
      </p:grpSp>
      <p:sp>
        <p:nvSpPr>
          <p:cNvPr name="TextBox 11" id="11"/>
          <p:cNvSpPr txBox="true"/>
          <p:nvPr/>
        </p:nvSpPr>
        <p:spPr>
          <a:xfrm rot="0">
            <a:off x="16219581" y="9105900"/>
            <a:ext cx="1039719" cy="626072"/>
          </a:xfrm>
          <a:prstGeom prst="rect">
            <a:avLst/>
          </a:prstGeom>
        </p:spPr>
        <p:txBody>
          <a:bodyPr anchor="t" rtlCol="false" tIns="0" lIns="0" bIns="0" rIns="0">
            <a:spAutoFit/>
          </a:bodyPr>
          <a:lstStyle/>
          <a:p>
            <a:pPr algn="ctr">
              <a:lnSpc>
                <a:spcPts val="5177"/>
              </a:lnSpc>
            </a:pPr>
            <a:r>
              <a:rPr lang="en-US" sz="3697">
                <a:solidFill>
                  <a:srgbClr val="CFC5C4"/>
                </a:solidFill>
                <a:latin typeface="League Spartan"/>
                <a:ea typeface="League Spartan"/>
                <a:cs typeface="League Spartan"/>
                <a:sym typeface="League Spartan"/>
              </a:rPr>
              <a:t>05</a:t>
            </a:r>
          </a:p>
        </p:txBody>
      </p:sp>
      <p:sp>
        <p:nvSpPr>
          <p:cNvPr name="TextBox 12" id="12"/>
          <p:cNvSpPr txBox="true"/>
          <p:nvPr/>
        </p:nvSpPr>
        <p:spPr>
          <a:xfrm rot="0">
            <a:off x="1707681" y="1015096"/>
            <a:ext cx="3952205" cy="405765"/>
          </a:xfrm>
          <a:prstGeom prst="rect">
            <a:avLst/>
          </a:prstGeom>
        </p:spPr>
        <p:txBody>
          <a:bodyPr anchor="t" rtlCol="false" tIns="0" lIns="0" bIns="0" rIns="0">
            <a:spAutoFit/>
          </a:bodyPr>
          <a:lstStyle/>
          <a:p>
            <a:pPr algn="l">
              <a:lnSpc>
                <a:spcPts val="3359"/>
              </a:lnSpc>
            </a:pPr>
            <a:r>
              <a:rPr lang="en-US" sz="2400">
                <a:solidFill>
                  <a:srgbClr val="FFFFFF"/>
                </a:solidFill>
                <a:latin typeface="Source Sans Pro"/>
                <a:ea typeface="Source Sans Pro"/>
                <a:cs typeface="Source Sans Pro"/>
                <a:sym typeface="Source Sans Pro"/>
              </a:rPr>
              <a:t>INSTITUT TEKNOLOGI DEL</a:t>
            </a:r>
          </a:p>
        </p:txBody>
      </p:sp>
      <p:sp>
        <p:nvSpPr>
          <p:cNvPr name="TextBox 13" id="13"/>
          <p:cNvSpPr txBox="true"/>
          <p:nvPr/>
        </p:nvSpPr>
        <p:spPr>
          <a:xfrm rot="0">
            <a:off x="1116764" y="2285000"/>
            <a:ext cx="11493586" cy="1025525"/>
          </a:xfrm>
          <a:prstGeom prst="rect">
            <a:avLst/>
          </a:prstGeom>
        </p:spPr>
        <p:txBody>
          <a:bodyPr anchor="t" rtlCol="false" tIns="0" lIns="0" bIns="0" rIns="0">
            <a:spAutoFit/>
          </a:bodyPr>
          <a:lstStyle/>
          <a:p>
            <a:pPr algn="l">
              <a:lnSpc>
                <a:spcPts val="8125"/>
              </a:lnSpc>
            </a:pPr>
            <a:r>
              <a:rPr lang="en-US" sz="6500">
                <a:solidFill>
                  <a:srgbClr val="16BEC7"/>
                </a:solidFill>
                <a:latin typeface="League Spartan"/>
                <a:ea typeface="League Spartan"/>
                <a:cs typeface="League Spartan"/>
                <a:sym typeface="League Spartan"/>
              </a:rPr>
              <a:t>SCOPE AND LIMITATIONS</a:t>
            </a:r>
          </a:p>
        </p:txBody>
      </p:sp>
      <p:sp>
        <p:nvSpPr>
          <p:cNvPr name="TextBox 14" id="14"/>
          <p:cNvSpPr txBox="true"/>
          <p:nvPr/>
        </p:nvSpPr>
        <p:spPr>
          <a:xfrm rot="0">
            <a:off x="1028700" y="4167775"/>
            <a:ext cx="781222" cy="389255"/>
          </a:xfrm>
          <a:prstGeom prst="rect">
            <a:avLst/>
          </a:prstGeom>
        </p:spPr>
        <p:txBody>
          <a:bodyPr anchor="t" rtlCol="false" tIns="0" lIns="0" bIns="0" rIns="0">
            <a:spAutoFit/>
          </a:bodyPr>
          <a:lstStyle/>
          <a:p>
            <a:pPr algn="ctr">
              <a:lnSpc>
                <a:spcPts val="3220"/>
              </a:lnSpc>
            </a:pPr>
            <a:r>
              <a:rPr lang="en-US" sz="2300" b="true">
                <a:solidFill>
                  <a:srgbClr val="005359"/>
                </a:solidFill>
                <a:latin typeface="Source Sans Pro Bold"/>
                <a:ea typeface="Source Sans Pro Bold"/>
                <a:cs typeface="Source Sans Pro Bold"/>
                <a:sym typeface="Source Sans Pro Bold"/>
              </a:rPr>
              <a:t>1.1</a:t>
            </a:r>
          </a:p>
        </p:txBody>
      </p:sp>
      <p:grpSp>
        <p:nvGrpSpPr>
          <p:cNvPr name="Group 15" id="15"/>
          <p:cNvGrpSpPr/>
          <p:nvPr/>
        </p:nvGrpSpPr>
        <p:grpSpPr>
          <a:xfrm rot="0">
            <a:off x="1056875" y="5854941"/>
            <a:ext cx="724871" cy="724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CFC5C4"/>
            </a:solidFill>
          </p:spPr>
        </p:sp>
        <p:sp>
          <p:nvSpPr>
            <p:cNvPr name="TextBox 17" id="17"/>
            <p:cNvSpPr txBox="true"/>
            <p:nvPr/>
          </p:nvSpPr>
          <p:spPr>
            <a:xfrm>
              <a:off x="139700" y="92075"/>
              <a:ext cx="533400" cy="581025"/>
            </a:xfrm>
            <a:prstGeom prst="rect">
              <a:avLst/>
            </a:prstGeom>
          </p:spPr>
          <p:txBody>
            <a:bodyPr anchor="ctr" rtlCol="false" tIns="50800" lIns="50800" bIns="50800" rIns="50800"/>
            <a:lstStyle/>
            <a:p>
              <a:pPr algn="ctr">
                <a:lnSpc>
                  <a:spcPts val="3359"/>
                </a:lnSpc>
              </a:pPr>
            </a:p>
          </p:txBody>
        </p:sp>
      </p:grpSp>
      <p:sp>
        <p:nvSpPr>
          <p:cNvPr name="TextBox 18" id="18"/>
          <p:cNvSpPr txBox="true"/>
          <p:nvPr/>
        </p:nvSpPr>
        <p:spPr>
          <a:xfrm rot="0">
            <a:off x="2247471" y="7337307"/>
            <a:ext cx="13972110" cy="1899285"/>
          </a:xfrm>
          <a:prstGeom prst="rect">
            <a:avLst/>
          </a:prstGeom>
        </p:spPr>
        <p:txBody>
          <a:bodyPr anchor="t" rtlCol="false" tIns="0" lIns="0" bIns="0" rIns="0">
            <a:spAutoFit/>
          </a:bodyPr>
          <a:lstStyle/>
          <a:p>
            <a:pPr algn="l">
              <a:lnSpc>
                <a:spcPts val="5039"/>
              </a:lnSpc>
            </a:pPr>
            <a:r>
              <a:rPr lang="en-US" sz="3599" b="true">
                <a:solidFill>
                  <a:srgbClr val="000000"/>
                </a:solidFill>
                <a:latin typeface="Source Sans Pro Bold"/>
                <a:ea typeface="Source Sans Pro Bold"/>
                <a:cs typeface="Source Sans Pro Bold"/>
                <a:sym typeface="Source Sans Pro Bold"/>
              </a:rPr>
              <a:t>Control and notifications are limited to Telegram; not yet available on other platforms.</a:t>
            </a:r>
          </a:p>
          <a:p>
            <a:pPr algn="l">
              <a:lnSpc>
                <a:spcPts val="5039"/>
              </a:lnSpc>
            </a:pPr>
          </a:p>
        </p:txBody>
      </p:sp>
      <p:sp>
        <p:nvSpPr>
          <p:cNvPr name="TextBox 19" id="19"/>
          <p:cNvSpPr txBox="true"/>
          <p:nvPr/>
        </p:nvSpPr>
        <p:spPr>
          <a:xfrm rot="0">
            <a:off x="1056875" y="5998937"/>
            <a:ext cx="781222" cy="389255"/>
          </a:xfrm>
          <a:prstGeom prst="rect">
            <a:avLst/>
          </a:prstGeom>
        </p:spPr>
        <p:txBody>
          <a:bodyPr anchor="t" rtlCol="false" tIns="0" lIns="0" bIns="0" rIns="0">
            <a:spAutoFit/>
          </a:bodyPr>
          <a:lstStyle/>
          <a:p>
            <a:pPr algn="ctr">
              <a:lnSpc>
                <a:spcPts val="3220"/>
              </a:lnSpc>
            </a:pPr>
            <a:r>
              <a:rPr lang="en-US" sz="2300" b="true">
                <a:solidFill>
                  <a:srgbClr val="005359"/>
                </a:solidFill>
                <a:latin typeface="Source Sans Pro Bold"/>
                <a:ea typeface="Source Sans Pro Bold"/>
                <a:cs typeface="Source Sans Pro Bold"/>
                <a:sym typeface="Source Sans Pro Bold"/>
              </a:rPr>
              <a:t>1.2</a:t>
            </a:r>
          </a:p>
        </p:txBody>
      </p:sp>
      <p:sp>
        <p:nvSpPr>
          <p:cNvPr name="Freeform 20" id="20"/>
          <p:cNvSpPr/>
          <p:nvPr/>
        </p:nvSpPr>
        <p:spPr>
          <a:xfrm flipH="true" flipV="false" rot="0">
            <a:off x="0" y="7385165"/>
            <a:ext cx="2247471" cy="2901835"/>
          </a:xfrm>
          <a:custGeom>
            <a:avLst/>
            <a:gdLst/>
            <a:ahLst/>
            <a:cxnLst/>
            <a:rect r="r" b="b" t="t" l="l"/>
            <a:pathLst>
              <a:path h="2901835" w="2247471">
                <a:moveTo>
                  <a:pt x="2247471" y="0"/>
                </a:moveTo>
                <a:lnTo>
                  <a:pt x="0" y="0"/>
                </a:lnTo>
                <a:lnTo>
                  <a:pt x="0" y="2901835"/>
                </a:lnTo>
                <a:lnTo>
                  <a:pt x="2247471" y="2901835"/>
                </a:lnTo>
                <a:lnTo>
                  <a:pt x="22474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961937" y="947715"/>
            <a:ext cx="558420" cy="610539"/>
          </a:xfrm>
          <a:custGeom>
            <a:avLst/>
            <a:gdLst/>
            <a:ahLst/>
            <a:cxnLst/>
            <a:rect r="r" b="b" t="t" l="l"/>
            <a:pathLst>
              <a:path h="610539" w="558420">
                <a:moveTo>
                  <a:pt x="0" y="0"/>
                </a:moveTo>
                <a:lnTo>
                  <a:pt x="558420" y="0"/>
                </a:lnTo>
                <a:lnTo>
                  <a:pt x="558420" y="610539"/>
                </a:lnTo>
                <a:lnTo>
                  <a:pt x="0" y="610539"/>
                </a:lnTo>
                <a:lnTo>
                  <a:pt x="0" y="0"/>
                </a:lnTo>
                <a:close/>
              </a:path>
            </a:pathLst>
          </a:custGeom>
          <a:blipFill>
            <a:blip r:embed="rId7"/>
            <a:stretch>
              <a:fillRect l="0" t="0" r="0" b="0"/>
            </a:stretch>
          </a:blipFill>
        </p:spPr>
      </p:sp>
      <p:sp>
        <p:nvSpPr>
          <p:cNvPr name="TextBox 22" id="22"/>
          <p:cNvSpPr txBox="true"/>
          <p:nvPr/>
        </p:nvSpPr>
        <p:spPr>
          <a:xfrm rot="0">
            <a:off x="2247471" y="3844651"/>
            <a:ext cx="13062194" cy="3175635"/>
          </a:xfrm>
          <a:prstGeom prst="rect">
            <a:avLst/>
          </a:prstGeom>
        </p:spPr>
        <p:txBody>
          <a:bodyPr anchor="t" rtlCol="false" tIns="0" lIns="0" bIns="0" rIns="0">
            <a:spAutoFit/>
          </a:bodyPr>
          <a:lstStyle/>
          <a:p>
            <a:pPr algn="just">
              <a:lnSpc>
                <a:spcPts val="5040"/>
              </a:lnSpc>
            </a:pPr>
            <a:r>
              <a:rPr lang="en-US" sz="3600" b="true">
                <a:solidFill>
                  <a:srgbClr val="000000"/>
                </a:solidFill>
                <a:latin typeface="Source Sans Pro Bold"/>
                <a:ea typeface="Source Sans Pro Bold"/>
                <a:cs typeface="Source Sans Pro Bold"/>
                <a:sym typeface="Source Sans Pro Bold"/>
              </a:rPr>
              <a:t>Only supports land-based livestock such as poultry and freshwater fish; not suitable for large livestock or pets.</a:t>
            </a:r>
          </a:p>
          <a:p>
            <a:pPr algn="just">
              <a:lnSpc>
                <a:spcPts val="5040"/>
              </a:lnSpc>
            </a:pPr>
          </a:p>
          <a:p>
            <a:pPr algn="just">
              <a:lnSpc>
                <a:spcPts val="5040"/>
              </a:lnSpc>
            </a:pPr>
          </a:p>
          <a:p>
            <a:pPr algn="just">
              <a:lnSpc>
                <a:spcPts val="5040"/>
              </a:lnSpc>
            </a:pPr>
          </a:p>
        </p:txBody>
      </p:sp>
      <p:sp>
        <p:nvSpPr>
          <p:cNvPr name="TextBox 23" id="23"/>
          <p:cNvSpPr txBox="true"/>
          <p:nvPr/>
        </p:nvSpPr>
        <p:spPr>
          <a:xfrm rot="0">
            <a:off x="2247471" y="5557426"/>
            <a:ext cx="13062194" cy="3175635"/>
          </a:xfrm>
          <a:prstGeom prst="rect">
            <a:avLst/>
          </a:prstGeom>
        </p:spPr>
        <p:txBody>
          <a:bodyPr anchor="t" rtlCol="false" tIns="0" lIns="0" bIns="0" rIns="0">
            <a:spAutoFit/>
          </a:bodyPr>
          <a:lstStyle/>
          <a:p>
            <a:pPr algn="l">
              <a:lnSpc>
                <a:spcPts val="5040"/>
              </a:lnSpc>
            </a:pPr>
            <a:r>
              <a:rPr lang="en-US" sz="3600" b="true">
                <a:solidFill>
                  <a:srgbClr val="000000"/>
                </a:solidFill>
                <a:latin typeface="Source Sans Pro Bold"/>
                <a:ea typeface="Source Sans Pro Bold"/>
                <a:cs typeface="Source Sans Pro Bold"/>
                <a:sym typeface="Source Sans Pro Bold"/>
              </a:rPr>
              <a:t>Requires a stable internet connection; not optimal in areas with poor network coverage.</a:t>
            </a:r>
          </a:p>
          <a:p>
            <a:pPr algn="l">
              <a:lnSpc>
                <a:spcPts val="5040"/>
              </a:lnSpc>
            </a:pPr>
          </a:p>
          <a:p>
            <a:pPr algn="l">
              <a:lnSpc>
                <a:spcPts val="5040"/>
              </a:lnSpc>
            </a:pPr>
          </a:p>
          <a:p>
            <a:pPr algn="l">
              <a:lnSpc>
                <a:spcPts val="5040"/>
              </a:lnSpc>
            </a:pPr>
          </a:p>
        </p:txBody>
      </p:sp>
      <p:grpSp>
        <p:nvGrpSpPr>
          <p:cNvPr name="Group 24" id="24"/>
          <p:cNvGrpSpPr/>
          <p:nvPr/>
        </p:nvGrpSpPr>
        <p:grpSpPr>
          <a:xfrm rot="0">
            <a:off x="1028700" y="7491545"/>
            <a:ext cx="724871" cy="72487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CFC5C4"/>
            </a:solidFill>
          </p:spPr>
        </p:sp>
        <p:sp>
          <p:nvSpPr>
            <p:cNvPr name="TextBox 26" id="26"/>
            <p:cNvSpPr txBox="true"/>
            <p:nvPr/>
          </p:nvSpPr>
          <p:spPr>
            <a:xfrm>
              <a:off x="139700" y="92075"/>
              <a:ext cx="533400" cy="581025"/>
            </a:xfrm>
            <a:prstGeom prst="rect">
              <a:avLst/>
            </a:prstGeom>
          </p:spPr>
          <p:txBody>
            <a:bodyPr anchor="ctr" rtlCol="false" tIns="50800" lIns="50800" bIns="50800" rIns="50800"/>
            <a:lstStyle/>
            <a:p>
              <a:pPr algn="ctr">
                <a:lnSpc>
                  <a:spcPts val="3359"/>
                </a:lnSpc>
              </a:pPr>
            </a:p>
          </p:txBody>
        </p:sp>
      </p:grpSp>
      <p:sp>
        <p:nvSpPr>
          <p:cNvPr name="TextBox 27" id="27"/>
          <p:cNvSpPr txBox="true"/>
          <p:nvPr/>
        </p:nvSpPr>
        <p:spPr>
          <a:xfrm rot="0">
            <a:off x="1000525" y="7635540"/>
            <a:ext cx="781222" cy="389255"/>
          </a:xfrm>
          <a:prstGeom prst="rect">
            <a:avLst/>
          </a:prstGeom>
        </p:spPr>
        <p:txBody>
          <a:bodyPr anchor="t" rtlCol="false" tIns="0" lIns="0" bIns="0" rIns="0">
            <a:spAutoFit/>
          </a:bodyPr>
          <a:lstStyle/>
          <a:p>
            <a:pPr algn="ctr">
              <a:lnSpc>
                <a:spcPts val="3220"/>
              </a:lnSpc>
            </a:pPr>
            <a:r>
              <a:rPr lang="en-US" sz="2300" b="true">
                <a:solidFill>
                  <a:srgbClr val="005359"/>
                </a:solidFill>
                <a:latin typeface="Source Sans Pro Bold"/>
                <a:ea typeface="Source Sans Pro Bold"/>
                <a:cs typeface="Source Sans Pro Bold"/>
                <a:sym typeface="Source Sans Pro Bold"/>
              </a:rPr>
              <a:t>1.3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true" flipV="true" rot="0">
            <a:off x="16182578" y="8582145"/>
            <a:ext cx="1511485" cy="1409460"/>
          </a:xfrm>
          <a:custGeom>
            <a:avLst/>
            <a:gdLst/>
            <a:ahLst/>
            <a:cxnLst/>
            <a:rect r="r" b="b" t="t" l="l"/>
            <a:pathLst>
              <a:path h="1409460" w="1511485">
                <a:moveTo>
                  <a:pt x="1511486" y="1409460"/>
                </a:moveTo>
                <a:lnTo>
                  <a:pt x="0" y="1409460"/>
                </a:lnTo>
                <a:lnTo>
                  <a:pt x="0" y="0"/>
                </a:lnTo>
                <a:lnTo>
                  <a:pt x="1511486" y="0"/>
                </a:lnTo>
                <a:lnTo>
                  <a:pt x="1511486" y="14094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968404"/>
            <a:ext cx="12482781" cy="3082925"/>
          </a:xfrm>
          <a:prstGeom prst="rect">
            <a:avLst/>
          </a:prstGeom>
        </p:spPr>
        <p:txBody>
          <a:bodyPr anchor="t" rtlCol="false" tIns="0" lIns="0" bIns="0" rIns="0">
            <a:spAutoFit/>
          </a:bodyPr>
          <a:lstStyle/>
          <a:p>
            <a:pPr algn="l">
              <a:lnSpc>
                <a:spcPts val="8125"/>
              </a:lnSpc>
            </a:pPr>
            <a:r>
              <a:rPr lang="en-US" sz="6500">
                <a:solidFill>
                  <a:srgbClr val="16BEC7"/>
                </a:solidFill>
                <a:latin typeface="League Spartan"/>
                <a:ea typeface="League Spartan"/>
                <a:cs typeface="League Spartan"/>
                <a:sym typeface="League Spartan"/>
              </a:rPr>
              <a:t>TARGET SYSTEM</a:t>
            </a:r>
          </a:p>
          <a:p>
            <a:pPr algn="l">
              <a:lnSpc>
                <a:spcPts val="8125"/>
              </a:lnSpc>
            </a:pPr>
          </a:p>
          <a:p>
            <a:pPr algn="l">
              <a:lnSpc>
                <a:spcPts val="8125"/>
              </a:lnSpc>
            </a:pPr>
          </a:p>
        </p:txBody>
      </p:sp>
      <p:grpSp>
        <p:nvGrpSpPr>
          <p:cNvPr name="Group 5" id="5"/>
          <p:cNvGrpSpPr/>
          <p:nvPr/>
        </p:nvGrpSpPr>
        <p:grpSpPr>
          <a:xfrm rot="-5400000">
            <a:off x="14677440" y="1857895"/>
            <a:ext cx="5661931" cy="909280"/>
            <a:chOff x="0" y="0"/>
            <a:chExt cx="1491208" cy="239481"/>
          </a:xfrm>
        </p:grpSpPr>
        <p:sp>
          <p:nvSpPr>
            <p:cNvPr name="Freeform 6" id="6"/>
            <p:cNvSpPr/>
            <p:nvPr/>
          </p:nvSpPr>
          <p:spPr>
            <a:xfrm flipH="false" flipV="false" rot="0">
              <a:off x="0" y="0"/>
              <a:ext cx="1491208" cy="239481"/>
            </a:xfrm>
            <a:custGeom>
              <a:avLst/>
              <a:gdLst/>
              <a:ahLst/>
              <a:cxnLst/>
              <a:rect r="r" b="b" t="t" l="l"/>
              <a:pathLst>
                <a:path h="239481" w="1491208">
                  <a:moveTo>
                    <a:pt x="0" y="0"/>
                  </a:moveTo>
                  <a:lnTo>
                    <a:pt x="1491208" y="0"/>
                  </a:lnTo>
                  <a:lnTo>
                    <a:pt x="1491208" y="239481"/>
                  </a:lnTo>
                  <a:lnTo>
                    <a:pt x="0" y="239481"/>
                  </a:lnTo>
                  <a:close/>
                </a:path>
              </a:pathLst>
            </a:custGeom>
            <a:solidFill>
              <a:srgbClr val="16BEC7"/>
            </a:solidFill>
          </p:spPr>
        </p:sp>
        <p:sp>
          <p:nvSpPr>
            <p:cNvPr name="TextBox 7" id="7"/>
            <p:cNvSpPr txBox="true"/>
            <p:nvPr/>
          </p:nvSpPr>
          <p:spPr>
            <a:xfrm>
              <a:off x="0" y="-47625"/>
              <a:ext cx="1491208" cy="287106"/>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5400000">
            <a:off x="15370757" y="2226257"/>
            <a:ext cx="5509531" cy="324955"/>
            <a:chOff x="0" y="0"/>
            <a:chExt cx="1451070" cy="85585"/>
          </a:xfrm>
        </p:grpSpPr>
        <p:sp>
          <p:nvSpPr>
            <p:cNvPr name="Freeform 9" id="9"/>
            <p:cNvSpPr/>
            <p:nvPr/>
          </p:nvSpPr>
          <p:spPr>
            <a:xfrm flipH="false" flipV="false" rot="0">
              <a:off x="0" y="0"/>
              <a:ext cx="1451070" cy="85585"/>
            </a:xfrm>
            <a:custGeom>
              <a:avLst/>
              <a:gdLst/>
              <a:ahLst/>
              <a:cxnLst/>
              <a:rect r="r" b="b" t="t" l="l"/>
              <a:pathLst>
                <a:path h="85585" w="1451070">
                  <a:moveTo>
                    <a:pt x="0" y="0"/>
                  </a:moveTo>
                  <a:lnTo>
                    <a:pt x="1451070" y="0"/>
                  </a:lnTo>
                  <a:lnTo>
                    <a:pt x="1451070" y="85585"/>
                  </a:lnTo>
                  <a:lnTo>
                    <a:pt x="0" y="85585"/>
                  </a:lnTo>
                  <a:close/>
                </a:path>
              </a:pathLst>
            </a:custGeom>
            <a:solidFill>
              <a:srgbClr val="CFC5C4"/>
            </a:solidFill>
          </p:spPr>
        </p:sp>
        <p:sp>
          <p:nvSpPr>
            <p:cNvPr name="TextBox 10" id="10"/>
            <p:cNvSpPr txBox="true"/>
            <p:nvPr/>
          </p:nvSpPr>
          <p:spPr>
            <a:xfrm>
              <a:off x="0" y="-47625"/>
              <a:ext cx="1451070" cy="133210"/>
            </a:xfrm>
            <a:prstGeom prst="rect">
              <a:avLst/>
            </a:prstGeom>
          </p:spPr>
          <p:txBody>
            <a:bodyPr anchor="ctr" rtlCol="false" tIns="50800" lIns="50800" bIns="50800" rIns="50800"/>
            <a:lstStyle/>
            <a:p>
              <a:pPr algn="ctr">
                <a:lnSpc>
                  <a:spcPts val="3359"/>
                </a:lnSpc>
              </a:pPr>
            </a:p>
          </p:txBody>
        </p:sp>
      </p:grpSp>
      <p:sp>
        <p:nvSpPr>
          <p:cNvPr name="Freeform 11" id="11"/>
          <p:cNvSpPr/>
          <p:nvPr/>
        </p:nvSpPr>
        <p:spPr>
          <a:xfrm flipH="false" flipV="false" rot="0">
            <a:off x="628189" y="3861823"/>
            <a:ext cx="333749" cy="321612"/>
          </a:xfrm>
          <a:custGeom>
            <a:avLst/>
            <a:gdLst/>
            <a:ahLst/>
            <a:cxnLst/>
            <a:rect r="r" b="b" t="t" l="l"/>
            <a:pathLst>
              <a:path h="321612" w="333749">
                <a:moveTo>
                  <a:pt x="0" y="0"/>
                </a:moveTo>
                <a:lnTo>
                  <a:pt x="333748" y="0"/>
                </a:lnTo>
                <a:lnTo>
                  <a:pt x="333748" y="321613"/>
                </a:lnTo>
                <a:lnTo>
                  <a:pt x="0" y="3216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961937" y="947715"/>
            <a:ext cx="558420" cy="610539"/>
          </a:xfrm>
          <a:custGeom>
            <a:avLst/>
            <a:gdLst/>
            <a:ahLst/>
            <a:cxnLst/>
            <a:rect r="r" b="b" t="t" l="l"/>
            <a:pathLst>
              <a:path h="610539" w="558420">
                <a:moveTo>
                  <a:pt x="0" y="0"/>
                </a:moveTo>
                <a:lnTo>
                  <a:pt x="558420" y="0"/>
                </a:lnTo>
                <a:lnTo>
                  <a:pt x="558420" y="610539"/>
                </a:lnTo>
                <a:lnTo>
                  <a:pt x="0" y="610539"/>
                </a:lnTo>
                <a:lnTo>
                  <a:pt x="0" y="0"/>
                </a:lnTo>
                <a:close/>
              </a:path>
            </a:pathLst>
          </a:custGeom>
          <a:blipFill>
            <a:blip r:embed="rId7"/>
            <a:stretch>
              <a:fillRect l="0" t="0" r="0" b="0"/>
            </a:stretch>
          </a:blipFill>
        </p:spPr>
      </p:sp>
      <p:sp>
        <p:nvSpPr>
          <p:cNvPr name="Freeform 13" id="13"/>
          <p:cNvSpPr/>
          <p:nvPr/>
        </p:nvSpPr>
        <p:spPr>
          <a:xfrm flipH="false" flipV="false" rot="0">
            <a:off x="10481262" y="1692986"/>
            <a:ext cx="5626688" cy="8038986"/>
          </a:xfrm>
          <a:custGeom>
            <a:avLst/>
            <a:gdLst/>
            <a:ahLst/>
            <a:cxnLst/>
            <a:rect r="r" b="b" t="t" l="l"/>
            <a:pathLst>
              <a:path h="8038986" w="5626688">
                <a:moveTo>
                  <a:pt x="0" y="0"/>
                </a:moveTo>
                <a:lnTo>
                  <a:pt x="5626688" y="0"/>
                </a:lnTo>
                <a:lnTo>
                  <a:pt x="5626688" y="8038986"/>
                </a:lnTo>
                <a:lnTo>
                  <a:pt x="0" y="8038986"/>
                </a:lnTo>
                <a:lnTo>
                  <a:pt x="0" y="0"/>
                </a:lnTo>
                <a:close/>
              </a:path>
            </a:pathLst>
          </a:custGeom>
          <a:blipFill>
            <a:blip r:embed="rId8"/>
            <a:stretch>
              <a:fillRect l="-164" t="-1991" r="0" b="-1991"/>
            </a:stretch>
          </a:blipFill>
        </p:spPr>
      </p:sp>
      <p:sp>
        <p:nvSpPr>
          <p:cNvPr name="TextBox 14" id="14"/>
          <p:cNvSpPr txBox="true"/>
          <p:nvPr/>
        </p:nvSpPr>
        <p:spPr>
          <a:xfrm rot="0">
            <a:off x="1764831" y="1076666"/>
            <a:ext cx="3952205" cy="405765"/>
          </a:xfrm>
          <a:prstGeom prst="rect">
            <a:avLst/>
          </a:prstGeom>
        </p:spPr>
        <p:txBody>
          <a:bodyPr anchor="t" rtlCol="false" tIns="0" lIns="0" bIns="0" rIns="0">
            <a:spAutoFit/>
          </a:bodyPr>
          <a:lstStyle/>
          <a:p>
            <a:pPr algn="l">
              <a:lnSpc>
                <a:spcPts val="3359"/>
              </a:lnSpc>
            </a:pPr>
            <a:r>
              <a:rPr lang="en-US" sz="2400">
                <a:solidFill>
                  <a:srgbClr val="182B5C"/>
                </a:solidFill>
                <a:latin typeface="Source Sans Pro"/>
                <a:ea typeface="Source Sans Pro"/>
                <a:cs typeface="Source Sans Pro"/>
                <a:sym typeface="Source Sans Pro"/>
              </a:rPr>
              <a:t>INSTITUT TEKNOLOGI DEL</a:t>
            </a:r>
          </a:p>
        </p:txBody>
      </p:sp>
      <p:sp>
        <p:nvSpPr>
          <p:cNvPr name="TextBox 15" id="15"/>
          <p:cNvSpPr txBox="true"/>
          <p:nvPr/>
        </p:nvSpPr>
        <p:spPr>
          <a:xfrm rot="0">
            <a:off x="15784817" y="9105900"/>
            <a:ext cx="1909247" cy="626072"/>
          </a:xfrm>
          <a:prstGeom prst="rect">
            <a:avLst/>
          </a:prstGeom>
        </p:spPr>
        <p:txBody>
          <a:bodyPr anchor="t" rtlCol="false" tIns="0" lIns="0" bIns="0" rIns="0">
            <a:spAutoFit/>
          </a:bodyPr>
          <a:lstStyle/>
          <a:p>
            <a:pPr algn="ctr">
              <a:lnSpc>
                <a:spcPts val="5177"/>
              </a:lnSpc>
            </a:pPr>
            <a:r>
              <a:rPr lang="en-US" sz="3697">
                <a:solidFill>
                  <a:srgbClr val="CFC5C4"/>
                </a:solidFill>
                <a:latin typeface="League Spartan"/>
                <a:ea typeface="League Spartan"/>
                <a:cs typeface="League Spartan"/>
                <a:sym typeface="League Spartan"/>
              </a:rPr>
              <a:t>07</a:t>
            </a:r>
          </a:p>
        </p:txBody>
      </p:sp>
      <p:sp>
        <p:nvSpPr>
          <p:cNvPr name="TextBox 16" id="16"/>
          <p:cNvSpPr txBox="true"/>
          <p:nvPr/>
        </p:nvSpPr>
        <p:spPr>
          <a:xfrm rot="0">
            <a:off x="1241147" y="3471767"/>
            <a:ext cx="8294300" cy="6158117"/>
          </a:xfrm>
          <a:prstGeom prst="rect">
            <a:avLst/>
          </a:prstGeom>
        </p:spPr>
        <p:txBody>
          <a:bodyPr anchor="t" rtlCol="false" tIns="0" lIns="0" bIns="0" rIns="0">
            <a:spAutoFit/>
          </a:bodyPr>
          <a:lstStyle/>
          <a:p>
            <a:pPr algn="just">
              <a:lnSpc>
                <a:spcPts val="4451"/>
              </a:lnSpc>
            </a:pPr>
            <a:r>
              <a:rPr lang="en-US" sz="3179" b="true">
                <a:solidFill>
                  <a:srgbClr val="000000"/>
                </a:solidFill>
                <a:latin typeface="Source Sans Pro Bold"/>
                <a:ea typeface="Source Sans Pro Bold"/>
                <a:cs typeface="Source Sans Pro Bold"/>
                <a:sym typeface="Source Sans Pro Bold"/>
              </a:rPr>
              <a:t>The target system is designed to automate the process of feeding animals through commands sent via the Telegram application. The user opens the app, selects the command menu, and sends the /beri_pakan command to the bot. The Telegram bot forwards this command to an ESP32 device connected to the feeding mechanism. Once the command is executed, the system sends feedback through Telegram to inform the user whether the feeding was successful.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grpSp>
        <p:nvGrpSpPr>
          <p:cNvPr name="Group 3" id="3"/>
          <p:cNvGrpSpPr/>
          <p:nvPr/>
        </p:nvGrpSpPr>
        <p:grpSpPr>
          <a:xfrm rot="0">
            <a:off x="9144000" y="0"/>
            <a:ext cx="9144000" cy="10287000"/>
            <a:chOff x="0" y="0"/>
            <a:chExt cx="2408296" cy="2709333"/>
          </a:xfrm>
        </p:grpSpPr>
        <p:sp>
          <p:nvSpPr>
            <p:cNvPr name="Freeform 4" id="4"/>
            <p:cNvSpPr/>
            <p:nvPr/>
          </p:nvSpPr>
          <p:spPr>
            <a:xfrm flipH="false" flipV="false" rot="0">
              <a:off x="0" y="0"/>
              <a:ext cx="2408296" cy="2709333"/>
            </a:xfrm>
            <a:custGeom>
              <a:avLst/>
              <a:gdLst/>
              <a:ahLst/>
              <a:cxnLst/>
              <a:rect r="r" b="b" t="t" l="l"/>
              <a:pathLst>
                <a:path h="2709333" w="2408296">
                  <a:moveTo>
                    <a:pt x="0" y="0"/>
                  </a:moveTo>
                  <a:lnTo>
                    <a:pt x="2408296" y="0"/>
                  </a:lnTo>
                  <a:lnTo>
                    <a:pt x="2408296" y="2709333"/>
                  </a:lnTo>
                  <a:lnTo>
                    <a:pt x="0" y="2709333"/>
                  </a:lnTo>
                  <a:close/>
                </a:path>
              </a:pathLst>
            </a:custGeom>
            <a:solidFill>
              <a:srgbClr val="FFFFFF"/>
            </a:solidFill>
          </p:spPr>
        </p:sp>
        <p:sp>
          <p:nvSpPr>
            <p:cNvPr name="TextBox 5" id="5"/>
            <p:cNvSpPr txBox="true"/>
            <p:nvPr/>
          </p:nvSpPr>
          <p:spPr>
            <a:xfrm>
              <a:off x="0" y="-47625"/>
              <a:ext cx="2408296" cy="2756958"/>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true" flipV="true" rot="0">
            <a:off x="16182578" y="8582145"/>
            <a:ext cx="1511485" cy="1409460"/>
          </a:xfrm>
          <a:custGeom>
            <a:avLst/>
            <a:gdLst/>
            <a:ahLst/>
            <a:cxnLst/>
            <a:rect r="r" b="b" t="t" l="l"/>
            <a:pathLst>
              <a:path h="1409460" w="1511485">
                <a:moveTo>
                  <a:pt x="1511486" y="1409460"/>
                </a:moveTo>
                <a:lnTo>
                  <a:pt x="0" y="1409460"/>
                </a:lnTo>
                <a:lnTo>
                  <a:pt x="0" y="0"/>
                </a:lnTo>
                <a:lnTo>
                  <a:pt x="1511486" y="0"/>
                </a:lnTo>
                <a:lnTo>
                  <a:pt x="1511486" y="14094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0">
            <a:off x="0" y="7385165"/>
            <a:ext cx="2247471" cy="2901835"/>
          </a:xfrm>
          <a:custGeom>
            <a:avLst/>
            <a:gdLst/>
            <a:ahLst/>
            <a:cxnLst/>
            <a:rect r="r" b="b" t="t" l="l"/>
            <a:pathLst>
              <a:path h="2901835" w="2247471">
                <a:moveTo>
                  <a:pt x="2247471" y="0"/>
                </a:moveTo>
                <a:lnTo>
                  <a:pt x="0" y="0"/>
                </a:lnTo>
                <a:lnTo>
                  <a:pt x="0" y="2901835"/>
                </a:lnTo>
                <a:lnTo>
                  <a:pt x="2247471" y="2901835"/>
                </a:lnTo>
                <a:lnTo>
                  <a:pt x="22474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961937" y="947715"/>
            <a:ext cx="558420" cy="610539"/>
          </a:xfrm>
          <a:custGeom>
            <a:avLst/>
            <a:gdLst/>
            <a:ahLst/>
            <a:cxnLst/>
            <a:rect r="r" b="b" t="t" l="l"/>
            <a:pathLst>
              <a:path h="610539" w="558420">
                <a:moveTo>
                  <a:pt x="0" y="0"/>
                </a:moveTo>
                <a:lnTo>
                  <a:pt x="558420" y="0"/>
                </a:lnTo>
                <a:lnTo>
                  <a:pt x="558420" y="610539"/>
                </a:lnTo>
                <a:lnTo>
                  <a:pt x="0" y="610539"/>
                </a:lnTo>
                <a:lnTo>
                  <a:pt x="0" y="0"/>
                </a:lnTo>
                <a:close/>
              </a:path>
            </a:pathLst>
          </a:custGeom>
          <a:blipFill>
            <a:blip r:embed="rId7"/>
            <a:stretch>
              <a:fillRect l="0" t="0" r="0" b="0"/>
            </a:stretch>
          </a:blipFill>
        </p:spPr>
      </p:sp>
      <p:sp>
        <p:nvSpPr>
          <p:cNvPr name="Freeform 9" id="9"/>
          <p:cNvSpPr/>
          <p:nvPr/>
        </p:nvSpPr>
        <p:spPr>
          <a:xfrm flipH="false" flipV="false" rot="0">
            <a:off x="9459192" y="390323"/>
            <a:ext cx="8234872" cy="8322711"/>
          </a:xfrm>
          <a:custGeom>
            <a:avLst/>
            <a:gdLst/>
            <a:ahLst/>
            <a:cxnLst/>
            <a:rect r="r" b="b" t="t" l="l"/>
            <a:pathLst>
              <a:path h="8322711" w="8234872">
                <a:moveTo>
                  <a:pt x="0" y="0"/>
                </a:moveTo>
                <a:lnTo>
                  <a:pt x="8234872" y="0"/>
                </a:lnTo>
                <a:lnTo>
                  <a:pt x="8234872" y="8322711"/>
                </a:lnTo>
                <a:lnTo>
                  <a:pt x="0" y="8322711"/>
                </a:lnTo>
                <a:lnTo>
                  <a:pt x="0" y="0"/>
                </a:lnTo>
                <a:close/>
              </a:path>
            </a:pathLst>
          </a:custGeom>
          <a:blipFill>
            <a:blip r:embed="rId8"/>
            <a:stretch>
              <a:fillRect l="0" t="0" r="0" b="0"/>
            </a:stretch>
          </a:blipFill>
        </p:spPr>
      </p:sp>
      <p:sp>
        <p:nvSpPr>
          <p:cNvPr name="TextBox 10" id="10"/>
          <p:cNvSpPr txBox="true"/>
          <p:nvPr/>
        </p:nvSpPr>
        <p:spPr>
          <a:xfrm rot="0">
            <a:off x="1764831" y="1076666"/>
            <a:ext cx="3952205" cy="405765"/>
          </a:xfrm>
          <a:prstGeom prst="rect">
            <a:avLst/>
          </a:prstGeom>
        </p:spPr>
        <p:txBody>
          <a:bodyPr anchor="t" rtlCol="false" tIns="0" lIns="0" bIns="0" rIns="0">
            <a:spAutoFit/>
          </a:bodyPr>
          <a:lstStyle/>
          <a:p>
            <a:pPr algn="l">
              <a:lnSpc>
                <a:spcPts val="3359"/>
              </a:lnSpc>
            </a:pPr>
            <a:r>
              <a:rPr lang="en-US" sz="2400">
                <a:solidFill>
                  <a:srgbClr val="FFFFFF"/>
                </a:solidFill>
                <a:latin typeface="Source Sans Pro"/>
                <a:ea typeface="Source Sans Pro"/>
                <a:cs typeface="Source Sans Pro"/>
                <a:sym typeface="Source Sans Pro"/>
              </a:rPr>
              <a:t>INSTITUT TEKNOLOGI DEL</a:t>
            </a:r>
          </a:p>
        </p:txBody>
      </p:sp>
      <p:sp>
        <p:nvSpPr>
          <p:cNvPr name="TextBox 11" id="11"/>
          <p:cNvSpPr txBox="true"/>
          <p:nvPr/>
        </p:nvSpPr>
        <p:spPr>
          <a:xfrm rot="0">
            <a:off x="15784817" y="9105900"/>
            <a:ext cx="1909247" cy="626072"/>
          </a:xfrm>
          <a:prstGeom prst="rect">
            <a:avLst/>
          </a:prstGeom>
        </p:spPr>
        <p:txBody>
          <a:bodyPr anchor="t" rtlCol="false" tIns="0" lIns="0" bIns="0" rIns="0">
            <a:spAutoFit/>
          </a:bodyPr>
          <a:lstStyle/>
          <a:p>
            <a:pPr algn="ctr">
              <a:lnSpc>
                <a:spcPts val="5177"/>
              </a:lnSpc>
            </a:pPr>
            <a:r>
              <a:rPr lang="en-US" sz="3697">
                <a:solidFill>
                  <a:srgbClr val="CFC5C4"/>
                </a:solidFill>
                <a:latin typeface="League Spartan"/>
                <a:ea typeface="League Spartan"/>
                <a:cs typeface="League Spartan"/>
                <a:sym typeface="League Spartan"/>
              </a:rPr>
              <a:t>08</a:t>
            </a:r>
          </a:p>
        </p:txBody>
      </p:sp>
      <p:sp>
        <p:nvSpPr>
          <p:cNvPr name="TextBox 12" id="12"/>
          <p:cNvSpPr txBox="true"/>
          <p:nvPr/>
        </p:nvSpPr>
        <p:spPr>
          <a:xfrm rot="0">
            <a:off x="578125" y="2179257"/>
            <a:ext cx="7696104" cy="1708622"/>
          </a:xfrm>
          <a:prstGeom prst="rect">
            <a:avLst/>
          </a:prstGeom>
        </p:spPr>
        <p:txBody>
          <a:bodyPr anchor="t" rtlCol="false" tIns="0" lIns="0" bIns="0" rIns="0">
            <a:spAutoFit/>
          </a:bodyPr>
          <a:lstStyle/>
          <a:p>
            <a:pPr algn="l">
              <a:lnSpc>
                <a:spcPts val="6782"/>
              </a:lnSpc>
            </a:pPr>
            <a:r>
              <a:rPr lang="en-US" sz="5425">
                <a:solidFill>
                  <a:srgbClr val="16BEC7"/>
                </a:solidFill>
                <a:latin typeface="League Spartan"/>
                <a:ea typeface="League Spartan"/>
                <a:cs typeface="League Spartan"/>
                <a:sym typeface="League Spartan"/>
              </a:rPr>
              <a:t>HARDWARE DESIGN</a:t>
            </a:r>
          </a:p>
          <a:p>
            <a:pPr algn="l">
              <a:lnSpc>
                <a:spcPts val="6782"/>
              </a:lnSpc>
            </a:pPr>
          </a:p>
        </p:txBody>
      </p:sp>
      <p:sp>
        <p:nvSpPr>
          <p:cNvPr name="TextBox 13" id="13"/>
          <p:cNvSpPr txBox="true"/>
          <p:nvPr/>
        </p:nvSpPr>
        <p:spPr>
          <a:xfrm rot="0">
            <a:off x="961937" y="3618287"/>
            <a:ext cx="7833706" cy="5217795"/>
          </a:xfrm>
          <a:prstGeom prst="rect">
            <a:avLst/>
          </a:prstGeom>
        </p:spPr>
        <p:txBody>
          <a:bodyPr anchor="t" rtlCol="false" tIns="0" lIns="0" bIns="0" rIns="0">
            <a:spAutoFit/>
          </a:bodyPr>
          <a:lstStyle/>
          <a:p>
            <a:pPr algn="just">
              <a:lnSpc>
                <a:spcPts val="3779"/>
              </a:lnSpc>
            </a:pPr>
            <a:r>
              <a:rPr lang="en-US" sz="2700" b="true">
                <a:solidFill>
                  <a:srgbClr val="FFFFFF"/>
                </a:solidFill>
                <a:latin typeface="Source Sans Pro Bold"/>
                <a:ea typeface="Source Sans Pro Bold"/>
                <a:cs typeface="Source Sans Pro Bold"/>
                <a:sym typeface="Source Sans Pro Bold"/>
              </a:rPr>
              <a:t>The solar panel is connected to a Solar Charge Controller (SCC), which regulates and converts solar energy into direct current (DC) electricity, then stores it in a battery. Power from the battery is then distributed through the Solar Charge Controller to various loads, such as the ESP32, motors, sensors, relays, and step-down modules. Feed is stored in a drum and dispensed through an automated channel controlled by a motor, then directed through a pipe and thrown to the livestock feeding area using a turbine.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true" flipV="true" rot="0">
            <a:off x="16182578" y="8582145"/>
            <a:ext cx="1511485" cy="1409460"/>
          </a:xfrm>
          <a:custGeom>
            <a:avLst/>
            <a:gdLst/>
            <a:ahLst/>
            <a:cxnLst/>
            <a:rect r="r" b="b" t="t" l="l"/>
            <a:pathLst>
              <a:path h="1409460" w="1511485">
                <a:moveTo>
                  <a:pt x="1511486" y="1409460"/>
                </a:moveTo>
                <a:lnTo>
                  <a:pt x="0" y="1409460"/>
                </a:lnTo>
                <a:lnTo>
                  <a:pt x="0" y="0"/>
                </a:lnTo>
                <a:lnTo>
                  <a:pt x="1511486" y="0"/>
                </a:lnTo>
                <a:lnTo>
                  <a:pt x="1511486" y="14094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7385165"/>
            <a:ext cx="2247471" cy="2901835"/>
          </a:xfrm>
          <a:custGeom>
            <a:avLst/>
            <a:gdLst/>
            <a:ahLst/>
            <a:cxnLst/>
            <a:rect r="r" b="b" t="t" l="l"/>
            <a:pathLst>
              <a:path h="2901835" w="2247471">
                <a:moveTo>
                  <a:pt x="2247471" y="0"/>
                </a:moveTo>
                <a:lnTo>
                  <a:pt x="0" y="0"/>
                </a:lnTo>
                <a:lnTo>
                  <a:pt x="0" y="2901835"/>
                </a:lnTo>
                <a:lnTo>
                  <a:pt x="2247471" y="2901835"/>
                </a:lnTo>
                <a:lnTo>
                  <a:pt x="22474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6142757" y="2091206"/>
            <a:ext cx="6697980" cy="1025525"/>
          </a:xfrm>
          <a:prstGeom prst="rect">
            <a:avLst/>
          </a:prstGeom>
        </p:spPr>
        <p:txBody>
          <a:bodyPr anchor="t" rtlCol="false" tIns="0" lIns="0" bIns="0" rIns="0">
            <a:spAutoFit/>
          </a:bodyPr>
          <a:lstStyle/>
          <a:p>
            <a:pPr algn="l">
              <a:lnSpc>
                <a:spcPts val="8125"/>
              </a:lnSpc>
            </a:pPr>
            <a:r>
              <a:rPr lang="en-US" sz="6500">
                <a:solidFill>
                  <a:srgbClr val="16BEC7"/>
                </a:solidFill>
                <a:latin typeface="League Spartan"/>
                <a:ea typeface="League Spartan"/>
                <a:cs typeface="League Spartan"/>
                <a:sym typeface="League Spartan"/>
              </a:rPr>
              <a:t>CONCLUSION</a:t>
            </a:r>
          </a:p>
        </p:txBody>
      </p:sp>
      <p:grpSp>
        <p:nvGrpSpPr>
          <p:cNvPr name="Group 6" id="6"/>
          <p:cNvGrpSpPr/>
          <p:nvPr/>
        </p:nvGrpSpPr>
        <p:grpSpPr>
          <a:xfrm rot="-5400000">
            <a:off x="14677440" y="1857895"/>
            <a:ext cx="5661931" cy="909280"/>
            <a:chOff x="0" y="0"/>
            <a:chExt cx="1491208" cy="239481"/>
          </a:xfrm>
        </p:grpSpPr>
        <p:sp>
          <p:nvSpPr>
            <p:cNvPr name="Freeform 7" id="7"/>
            <p:cNvSpPr/>
            <p:nvPr/>
          </p:nvSpPr>
          <p:spPr>
            <a:xfrm flipH="false" flipV="false" rot="0">
              <a:off x="0" y="0"/>
              <a:ext cx="1491208" cy="239481"/>
            </a:xfrm>
            <a:custGeom>
              <a:avLst/>
              <a:gdLst/>
              <a:ahLst/>
              <a:cxnLst/>
              <a:rect r="r" b="b" t="t" l="l"/>
              <a:pathLst>
                <a:path h="239481" w="1491208">
                  <a:moveTo>
                    <a:pt x="0" y="0"/>
                  </a:moveTo>
                  <a:lnTo>
                    <a:pt x="1491208" y="0"/>
                  </a:lnTo>
                  <a:lnTo>
                    <a:pt x="1491208" y="239481"/>
                  </a:lnTo>
                  <a:lnTo>
                    <a:pt x="0" y="239481"/>
                  </a:lnTo>
                  <a:close/>
                </a:path>
              </a:pathLst>
            </a:custGeom>
            <a:solidFill>
              <a:srgbClr val="16BEC7"/>
            </a:solidFill>
          </p:spPr>
        </p:sp>
        <p:sp>
          <p:nvSpPr>
            <p:cNvPr name="TextBox 8" id="8"/>
            <p:cNvSpPr txBox="true"/>
            <p:nvPr/>
          </p:nvSpPr>
          <p:spPr>
            <a:xfrm>
              <a:off x="0" y="-47625"/>
              <a:ext cx="1491208" cy="287106"/>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5400000">
            <a:off x="15370757" y="2226257"/>
            <a:ext cx="5509531" cy="324955"/>
            <a:chOff x="0" y="0"/>
            <a:chExt cx="1451070" cy="85585"/>
          </a:xfrm>
        </p:grpSpPr>
        <p:sp>
          <p:nvSpPr>
            <p:cNvPr name="Freeform 10" id="10"/>
            <p:cNvSpPr/>
            <p:nvPr/>
          </p:nvSpPr>
          <p:spPr>
            <a:xfrm flipH="false" flipV="false" rot="0">
              <a:off x="0" y="0"/>
              <a:ext cx="1451070" cy="85585"/>
            </a:xfrm>
            <a:custGeom>
              <a:avLst/>
              <a:gdLst/>
              <a:ahLst/>
              <a:cxnLst/>
              <a:rect r="r" b="b" t="t" l="l"/>
              <a:pathLst>
                <a:path h="85585" w="1451070">
                  <a:moveTo>
                    <a:pt x="0" y="0"/>
                  </a:moveTo>
                  <a:lnTo>
                    <a:pt x="1451070" y="0"/>
                  </a:lnTo>
                  <a:lnTo>
                    <a:pt x="1451070" y="85585"/>
                  </a:lnTo>
                  <a:lnTo>
                    <a:pt x="0" y="85585"/>
                  </a:lnTo>
                  <a:close/>
                </a:path>
              </a:pathLst>
            </a:custGeom>
            <a:solidFill>
              <a:srgbClr val="CFC5C4"/>
            </a:solidFill>
          </p:spPr>
        </p:sp>
        <p:sp>
          <p:nvSpPr>
            <p:cNvPr name="TextBox 11" id="11"/>
            <p:cNvSpPr txBox="true"/>
            <p:nvPr/>
          </p:nvSpPr>
          <p:spPr>
            <a:xfrm>
              <a:off x="0" y="-47625"/>
              <a:ext cx="1451070" cy="133210"/>
            </a:xfrm>
            <a:prstGeom prst="rect">
              <a:avLst/>
            </a:prstGeom>
          </p:spPr>
          <p:txBody>
            <a:bodyPr anchor="ctr" rtlCol="false" tIns="50800" lIns="50800" bIns="50800" rIns="50800"/>
            <a:lstStyle/>
            <a:p>
              <a:pPr algn="ctr">
                <a:lnSpc>
                  <a:spcPts val="3359"/>
                </a:lnSpc>
              </a:pPr>
            </a:p>
          </p:txBody>
        </p:sp>
      </p:grpSp>
      <p:sp>
        <p:nvSpPr>
          <p:cNvPr name="Freeform 12" id="12"/>
          <p:cNvSpPr/>
          <p:nvPr/>
        </p:nvSpPr>
        <p:spPr>
          <a:xfrm flipH="false" flipV="false" rot="0">
            <a:off x="1173914" y="4022629"/>
            <a:ext cx="333749" cy="321612"/>
          </a:xfrm>
          <a:custGeom>
            <a:avLst/>
            <a:gdLst/>
            <a:ahLst/>
            <a:cxnLst/>
            <a:rect r="r" b="b" t="t" l="l"/>
            <a:pathLst>
              <a:path h="321612" w="333749">
                <a:moveTo>
                  <a:pt x="0" y="0"/>
                </a:moveTo>
                <a:lnTo>
                  <a:pt x="333749" y="0"/>
                </a:lnTo>
                <a:lnTo>
                  <a:pt x="333749" y="321613"/>
                </a:lnTo>
                <a:lnTo>
                  <a:pt x="0" y="32161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961937" y="947715"/>
            <a:ext cx="558420" cy="610539"/>
          </a:xfrm>
          <a:custGeom>
            <a:avLst/>
            <a:gdLst/>
            <a:ahLst/>
            <a:cxnLst/>
            <a:rect r="r" b="b" t="t" l="l"/>
            <a:pathLst>
              <a:path h="610539" w="558420">
                <a:moveTo>
                  <a:pt x="0" y="0"/>
                </a:moveTo>
                <a:lnTo>
                  <a:pt x="558420" y="0"/>
                </a:lnTo>
                <a:lnTo>
                  <a:pt x="558420" y="610539"/>
                </a:lnTo>
                <a:lnTo>
                  <a:pt x="0" y="610539"/>
                </a:lnTo>
                <a:lnTo>
                  <a:pt x="0" y="0"/>
                </a:lnTo>
                <a:close/>
              </a:path>
            </a:pathLst>
          </a:custGeom>
          <a:blipFill>
            <a:blip r:embed="rId9"/>
            <a:stretch>
              <a:fillRect l="0" t="0" r="0" b="0"/>
            </a:stretch>
          </a:blipFill>
        </p:spPr>
      </p:sp>
      <p:sp>
        <p:nvSpPr>
          <p:cNvPr name="TextBox 14" id="14"/>
          <p:cNvSpPr txBox="true"/>
          <p:nvPr/>
        </p:nvSpPr>
        <p:spPr>
          <a:xfrm rot="0">
            <a:off x="1764831" y="1076666"/>
            <a:ext cx="3952205" cy="405765"/>
          </a:xfrm>
          <a:prstGeom prst="rect">
            <a:avLst/>
          </a:prstGeom>
        </p:spPr>
        <p:txBody>
          <a:bodyPr anchor="t" rtlCol="false" tIns="0" lIns="0" bIns="0" rIns="0">
            <a:spAutoFit/>
          </a:bodyPr>
          <a:lstStyle/>
          <a:p>
            <a:pPr algn="l">
              <a:lnSpc>
                <a:spcPts val="3359"/>
              </a:lnSpc>
            </a:pPr>
            <a:r>
              <a:rPr lang="en-US" sz="2400">
                <a:solidFill>
                  <a:srgbClr val="182B5C"/>
                </a:solidFill>
                <a:latin typeface="Source Sans Pro"/>
                <a:ea typeface="Source Sans Pro"/>
                <a:cs typeface="Source Sans Pro"/>
                <a:sym typeface="Source Sans Pro"/>
              </a:rPr>
              <a:t>INSTITUT TEKNOLOGI DEL</a:t>
            </a:r>
          </a:p>
        </p:txBody>
      </p:sp>
      <p:sp>
        <p:nvSpPr>
          <p:cNvPr name="TextBox 15" id="15"/>
          <p:cNvSpPr txBox="true"/>
          <p:nvPr/>
        </p:nvSpPr>
        <p:spPr>
          <a:xfrm rot="0">
            <a:off x="15784817" y="9105900"/>
            <a:ext cx="1909247" cy="626072"/>
          </a:xfrm>
          <a:prstGeom prst="rect">
            <a:avLst/>
          </a:prstGeom>
        </p:spPr>
        <p:txBody>
          <a:bodyPr anchor="t" rtlCol="false" tIns="0" lIns="0" bIns="0" rIns="0">
            <a:spAutoFit/>
          </a:bodyPr>
          <a:lstStyle/>
          <a:p>
            <a:pPr algn="ctr">
              <a:lnSpc>
                <a:spcPts val="5177"/>
              </a:lnSpc>
            </a:pPr>
            <a:r>
              <a:rPr lang="en-US" sz="3697">
                <a:solidFill>
                  <a:srgbClr val="CFC5C4"/>
                </a:solidFill>
                <a:latin typeface="League Spartan"/>
                <a:ea typeface="League Spartan"/>
                <a:cs typeface="League Spartan"/>
                <a:sym typeface="League Spartan"/>
              </a:rPr>
              <a:t>07</a:t>
            </a:r>
          </a:p>
        </p:txBody>
      </p:sp>
      <p:sp>
        <p:nvSpPr>
          <p:cNvPr name="TextBox 16" id="16"/>
          <p:cNvSpPr txBox="true"/>
          <p:nvPr/>
        </p:nvSpPr>
        <p:spPr>
          <a:xfrm rot="0">
            <a:off x="3740934" y="3723938"/>
            <a:ext cx="11913786" cy="5728335"/>
          </a:xfrm>
          <a:prstGeom prst="rect">
            <a:avLst/>
          </a:prstGeom>
        </p:spPr>
        <p:txBody>
          <a:bodyPr anchor="t" rtlCol="false" tIns="0" lIns="0" bIns="0" rIns="0">
            <a:spAutoFit/>
          </a:bodyPr>
          <a:lstStyle/>
          <a:p>
            <a:pPr algn="just" marL="777238" indent="-388619" lvl="1">
              <a:lnSpc>
                <a:spcPts val="5039"/>
              </a:lnSpc>
              <a:buFont typeface="Arial"/>
              <a:buChar char="•"/>
            </a:pPr>
            <a:r>
              <a:rPr lang="en-US" b="true" sz="3599">
                <a:solidFill>
                  <a:srgbClr val="000000"/>
                </a:solidFill>
                <a:latin typeface="Source Sans Pro Bold"/>
                <a:ea typeface="Source Sans Pro Bold"/>
                <a:cs typeface="Source Sans Pro Bold"/>
                <a:sym typeface="Source Sans Pro Bold"/>
              </a:rPr>
              <a:t>eFeeder is an automatic feeding system based on IoT technology.</a:t>
            </a:r>
          </a:p>
          <a:p>
            <a:pPr algn="just">
              <a:lnSpc>
                <a:spcPts val="5039"/>
              </a:lnSpc>
            </a:pPr>
          </a:p>
          <a:p>
            <a:pPr algn="just" marL="777238" indent="-388619" lvl="1">
              <a:lnSpc>
                <a:spcPts val="5039"/>
              </a:lnSpc>
              <a:buFont typeface="Arial"/>
              <a:buChar char="•"/>
            </a:pPr>
            <a:r>
              <a:rPr lang="en-US" b="true" sz="3599">
                <a:solidFill>
                  <a:srgbClr val="000000"/>
                </a:solidFill>
                <a:latin typeface="Source Sans Pro Bold"/>
                <a:ea typeface="Source Sans Pro Bold"/>
                <a:cs typeface="Source Sans Pro Bold"/>
                <a:sym typeface="Source Sans Pro Bold"/>
              </a:rPr>
              <a:t>It improves efficiency, reduces errors, and simplifies feed management.</a:t>
            </a:r>
          </a:p>
          <a:p>
            <a:pPr algn="just">
              <a:lnSpc>
                <a:spcPts val="5039"/>
              </a:lnSpc>
            </a:pPr>
          </a:p>
          <a:p>
            <a:pPr algn="just" marL="777238" indent="-388619" lvl="1">
              <a:lnSpc>
                <a:spcPts val="5039"/>
              </a:lnSpc>
              <a:buFont typeface="Arial"/>
              <a:buChar char="•"/>
            </a:pPr>
            <a:r>
              <a:rPr lang="en-US" b="true" sz="3599">
                <a:solidFill>
                  <a:srgbClr val="000000"/>
                </a:solidFill>
                <a:latin typeface="Source Sans Pro Bold"/>
                <a:ea typeface="Source Sans Pro Bold"/>
                <a:cs typeface="Source Sans Pro Bold"/>
                <a:sym typeface="Source Sans Pro Bold"/>
              </a:rPr>
              <a:t>Has potential for further development with features like automatic scheduling and notifications.</a:t>
            </a:r>
          </a:p>
          <a:p>
            <a:pPr algn="just">
              <a:lnSpc>
                <a:spcPts val="503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true" flipV="true" rot="0">
            <a:off x="16182578" y="8582145"/>
            <a:ext cx="1511485" cy="1409460"/>
          </a:xfrm>
          <a:custGeom>
            <a:avLst/>
            <a:gdLst/>
            <a:ahLst/>
            <a:cxnLst/>
            <a:rect r="r" b="b" t="t" l="l"/>
            <a:pathLst>
              <a:path h="1409460" w="1511485">
                <a:moveTo>
                  <a:pt x="1511486" y="1409460"/>
                </a:moveTo>
                <a:lnTo>
                  <a:pt x="0" y="1409460"/>
                </a:lnTo>
                <a:lnTo>
                  <a:pt x="0" y="0"/>
                </a:lnTo>
                <a:lnTo>
                  <a:pt x="1511486" y="0"/>
                </a:lnTo>
                <a:lnTo>
                  <a:pt x="1511486" y="14094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7385165"/>
            <a:ext cx="2247471" cy="2901835"/>
          </a:xfrm>
          <a:custGeom>
            <a:avLst/>
            <a:gdLst/>
            <a:ahLst/>
            <a:cxnLst/>
            <a:rect r="r" b="b" t="t" l="l"/>
            <a:pathLst>
              <a:path h="2901835" w="2247471">
                <a:moveTo>
                  <a:pt x="2247471" y="0"/>
                </a:moveTo>
                <a:lnTo>
                  <a:pt x="0" y="0"/>
                </a:lnTo>
                <a:lnTo>
                  <a:pt x="0" y="2901835"/>
                </a:lnTo>
                <a:lnTo>
                  <a:pt x="2247471" y="2901835"/>
                </a:lnTo>
                <a:lnTo>
                  <a:pt x="22474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4708724" y="2274435"/>
            <a:ext cx="8137636" cy="1025525"/>
          </a:xfrm>
          <a:prstGeom prst="rect">
            <a:avLst/>
          </a:prstGeom>
        </p:spPr>
        <p:txBody>
          <a:bodyPr anchor="t" rtlCol="false" tIns="0" lIns="0" bIns="0" rIns="0">
            <a:spAutoFit/>
          </a:bodyPr>
          <a:lstStyle/>
          <a:p>
            <a:pPr algn="l">
              <a:lnSpc>
                <a:spcPts val="8125"/>
              </a:lnSpc>
            </a:pPr>
            <a:r>
              <a:rPr lang="en-US" sz="6500">
                <a:solidFill>
                  <a:srgbClr val="16BEC7"/>
                </a:solidFill>
                <a:latin typeface="League Spartan"/>
                <a:ea typeface="League Spartan"/>
                <a:cs typeface="League Spartan"/>
                <a:sym typeface="League Spartan"/>
              </a:rPr>
              <a:t>DEMONSTRATION</a:t>
            </a:r>
          </a:p>
        </p:txBody>
      </p:sp>
      <p:grpSp>
        <p:nvGrpSpPr>
          <p:cNvPr name="Group 6" id="6"/>
          <p:cNvGrpSpPr/>
          <p:nvPr/>
        </p:nvGrpSpPr>
        <p:grpSpPr>
          <a:xfrm rot="-5400000">
            <a:off x="14677440" y="1857895"/>
            <a:ext cx="5661931" cy="909280"/>
            <a:chOff x="0" y="0"/>
            <a:chExt cx="1491208" cy="239481"/>
          </a:xfrm>
        </p:grpSpPr>
        <p:sp>
          <p:nvSpPr>
            <p:cNvPr name="Freeform 7" id="7"/>
            <p:cNvSpPr/>
            <p:nvPr/>
          </p:nvSpPr>
          <p:spPr>
            <a:xfrm flipH="false" flipV="false" rot="0">
              <a:off x="0" y="0"/>
              <a:ext cx="1491208" cy="239481"/>
            </a:xfrm>
            <a:custGeom>
              <a:avLst/>
              <a:gdLst/>
              <a:ahLst/>
              <a:cxnLst/>
              <a:rect r="r" b="b" t="t" l="l"/>
              <a:pathLst>
                <a:path h="239481" w="1491208">
                  <a:moveTo>
                    <a:pt x="0" y="0"/>
                  </a:moveTo>
                  <a:lnTo>
                    <a:pt x="1491208" y="0"/>
                  </a:lnTo>
                  <a:lnTo>
                    <a:pt x="1491208" y="239481"/>
                  </a:lnTo>
                  <a:lnTo>
                    <a:pt x="0" y="239481"/>
                  </a:lnTo>
                  <a:close/>
                </a:path>
              </a:pathLst>
            </a:custGeom>
            <a:solidFill>
              <a:srgbClr val="16BEC7"/>
            </a:solidFill>
          </p:spPr>
        </p:sp>
        <p:sp>
          <p:nvSpPr>
            <p:cNvPr name="TextBox 8" id="8"/>
            <p:cNvSpPr txBox="true"/>
            <p:nvPr/>
          </p:nvSpPr>
          <p:spPr>
            <a:xfrm>
              <a:off x="0" y="-47625"/>
              <a:ext cx="1491208" cy="287106"/>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5400000">
            <a:off x="15370757" y="2226257"/>
            <a:ext cx="5509531" cy="324955"/>
            <a:chOff x="0" y="0"/>
            <a:chExt cx="1451070" cy="85585"/>
          </a:xfrm>
        </p:grpSpPr>
        <p:sp>
          <p:nvSpPr>
            <p:cNvPr name="Freeform 10" id="10"/>
            <p:cNvSpPr/>
            <p:nvPr/>
          </p:nvSpPr>
          <p:spPr>
            <a:xfrm flipH="false" flipV="false" rot="0">
              <a:off x="0" y="0"/>
              <a:ext cx="1451070" cy="85585"/>
            </a:xfrm>
            <a:custGeom>
              <a:avLst/>
              <a:gdLst/>
              <a:ahLst/>
              <a:cxnLst/>
              <a:rect r="r" b="b" t="t" l="l"/>
              <a:pathLst>
                <a:path h="85585" w="1451070">
                  <a:moveTo>
                    <a:pt x="0" y="0"/>
                  </a:moveTo>
                  <a:lnTo>
                    <a:pt x="1451070" y="0"/>
                  </a:lnTo>
                  <a:lnTo>
                    <a:pt x="1451070" y="85585"/>
                  </a:lnTo>
                  <a:lnTo>
                    <a:pt x="0" y="85585"/>
                  </a:lnTo>
                  <a:close/>
                </a:path>
              </a:pathLst>
            </a:custGeom>
            <a:solidFill>
              <a:srgbClr val="CFC5C4"/>
            </a:solidFill>
          </p:spPr>
        </p:sp>
        <p:sp>
          <p:nvSpPr>
            <p:cNvPr name="TextBox 11" id="11"/>
            <p:cNvSpPr txBox="true"/>
            <p:nvPr/>
          </p:nvSpPr>
          <p:spPr>
            <a:xfrm>
              <a:off x="0" y="-47625"/>
              <a:ext cx="1451070" cy="133210"/>
            </a:xfrm>
            <a:prstGeom prst="rect">
              <a:avLst/>
            </a:prstGeom>
          </p:spPr>
          <p:txBody>
            <a:bodyPr anchor="ctr" rtlCol="false" tIns="50800" lIns="50800" bIns="50800" rIns="50800"/>
            <a:lstStyle/>
            <a:p>
              <a:pPr algn="ctr">
                <a:lnSpc>
                  <a:spcPts val="3359"/>
                </a:lnSpc>
              </a:pPr>
            </a:p>
          </p:txBody>
        </p:sp>
      </p:grpSp>
      <p:sp>
        <p:nvSpPr>
          <p:cNvPr name="Freeform 12" id="12"/>
          <p:cNvSpPr/>
          <p:nvPr/>
        </p:nvSpPr>
        <p:spPr>
          <a:xfrm flipH="false" flipV="false" rot="0">
            <a:off x="1028700" y="4685361"/>
            <a:ext cx="333749" cy="321612"/>
          </a:xfrm>
          <a:custGeom>
            <a:avLst/>
            <a:gdLst/>
            <a:ahLst/>
            <a:cxnLst/>
            <a:rect r="r" b="b" t="t" l="l"/>
            <a:pathLst>
              <a:path h="321612" w="333749">
                <a:moveTo>
                  <a:pt x="0" y="0"/>
                </a:moveTo>
                <a:lnTo>
                  <a:pt x="333749" y="0"/>
                </a:lnTo>
                <a:lnTo>
                  <a:pt x="333749" y="321612"/>
                </a:lnTo>
                <a:lnTo>
                  <a:pt x="0" y="3216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961937" y="947715"/>
            <a:ext cx="558420" cy="610539"/>
          </a:xfrm>
          <a:custGeom>
            <a:avLst/>
            <a:gdLst/>
            <a:ahLst/>
            <a:cxnLst/>
            <a:rect r="r" b="b" t="t" l="l"/>
            <a:pathLst>
              <a:path h="610539" w="558420">
                <a:moveTo>
                  <a:pt x="0" y="0"/>
                </a:moveTo>
                <a:lnTo>
                  <a:pt x="558420" y="0"/>
                </a:lnTo>
                <a:lnTo>
                  <a:pt x="558420" y="610539"/>
                </a:lnTo>
                <a:lnTo>
                  <a:pt x="0" y="610539"/>
                </a:lnTo>
                <a:lnTo>
                  <a:pt x="0" y="0"/>
                </a:lnTo>
                <a:close/>
              </a:path>
            </a:pathLst>
          </a:custGeom>
          <a:blipFill>
            <a:blip r:embed="rId9"/>
            <a:stretch>
              <a:fillRect l="0" t="0" r="0" b="0"/>
            </a:stretch>
          </a:blipFill>
        </p:spPr>
      </p:sp>
      <p:sp>
        <p:nvSpPr>
          <p:cNvPr name="TextBox 14" id="14"/>
          <p:cNvSpPr txBox="true"/>
          <p:nvPr/>
        </p:nvSpPr>
        <p:spPr>
          <a:xfrm rot="0">
            <a:off x="1764831" y="1076666"/>
            <a:ext cx="3952205" cy="405765"/>
          </a:xfrm>
          <a:prstGeom prst="rect">
            <a:avLst/>
          </a:prstGeom>
        </p:spPr>
        <p:txBody>
          <a:bodyPr anchor="t" rtlCol="false" tIns="0" lIns="0" bIns="0" rIns="0">
            <a:spAutoFit/>
          </a:bodyPr>
          <a:lstStyle/>
          <a:p>
            <a:pPr algn="l">
              <a:lnSpc>
                <a:spcPts val="3359"/>
              </a:lnSpc>
            </a:pPr>
            <a:r>
              <a:rPr lang="en-US" sz="2400">
                <a:solidFill>
                  <a:srgbClr val="182B5C"/>
                </a:solidFill>
                <a:latin typeface="Source Sans Pro"/>
                <a:ea typeface="Source Sans Pro"/>
                <a:cs typeface="Source Sans Pro"/>
                <a:sym typeface="Source Sans Pro"/>
              </a:rPr>
              <a:t>INSTITUT TEKNOLOGI DEL</a:t>
            </a:r>
          </a:p>
        </p:txBody>
      </p:sp>
      <p:sp>
        <p:nvSpPr>
          <p:cNvPr name="TextBox 15" id="15"/>
          <p:cNvSpPr txBox="true"/>
          <p:nvPr/>
        </p:nvSpPr>
        <p:spPr>
          <a:xfrm rot="0">
            <a:off x="15784817" y="9105900"/>
            <a:ext cx="1909247" cy="626072"/>
          </a:xfrm>
          <a:prstGeom prst="rect">
            <a:avLst/>
          </a:prstGeom>
        </p:spPr>
        <p:txBody>
          <a:bodyPr anchor="t" rtlCol="false" tIns="0" lIns="0" bIns="0" rIns="0">
            <a:spAutoFit/>
          </a:bodyPr>
          <a:lstStyle/>
          <a:p>
            <a:pPr algn="ctr">
              <a:lnSpc>
                <a:spcPts val="5177"/>
              </a:lnSpc>
            </a:pPr>
            <a:r>
              <a:rPr lang="en-US" sz="3697">
                <a:solidFill>
                  <a:srgbClr val="CFC5C4"/>
                </a:solidFill>
                <a:latin typeface="League Spartan"/>
                <a:ea typeface="League Spartan"/>
                <a:cs typeface="League Spartan"/>
                <a:sym typeface="League Spartan"/>
              </a:rPr>
              <a:t>07</a:t>
            </a:r>
          </a:p>
        </p:txBody>
      </p:sp>
      <p:sp>
        <p:nvSpPr>
          <p:cNvPr name="TextBox 16" id="16"/>
          <p:cNvSpPr txBox="true"/>
          <p:nvPr/>
        </p:nvSpPr>
        <p:spPr>
          <a:xfrm rot="0">
            <a:off x="3268993" y="4463109"/>
            <a:ext cx="12311548" cy="680391"/>
          </a:xfrm>
          <a:prstGeom prst="rect">
            <a:avLst/>
          </a:prstGeom>
        </p:spPr>
        <p:txBody>
          <a:bodyPr anchor="t" rtlCol="false" tIns="0" lIns="0" bIns="0" rIns="0">
            <a:spAutoFit/>
          </a:bodyPr>
          <a:lstStyle/>
          <a:p>
            <a:pPr algn="just">
              <a:lnSpc>
                <a:spcPts val="5548"/>
              </a:lnSpc>
            </a:pPr>
            <a:r>
              <a:rPr lang="en-US" sz="3962" b="true">
                <a:solidFill>
                  <a:srgbClr val="000000"/>
                </a:solidFill>
                <a:latin typeface="Source Sans Pro Bold"/>
                <a:ea typeface="Source Sans Pro Bold"/>
                <a:cs typeface="Source Sans Pro Bold"/>
                <a:sym typeface="Source Sans Pro Bold"/>
              </a:rPr>
              <a:t>https://youtu.be/S7EEEewG4fY?si=xTPcRubx-do_V7bR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true" flipV="true" rot="0">
            <a:off x="16182578" y="8582145"/>
            <a:ext cx="1511485" cy="1409460"/>
          </a:xfrm>
          <a:custGeom>
            <a:avLst/>
            <a:gdLst/>
            <a:ahLst/>
            <a:cxnLst/>
            <a:rect r="r" b="b" t="t" l="l"/>
            <a:pathLst>
              <a:path h="1409460" w="1511485">
                <a:moveTo>
                  <a:pt x="1511486" y="1409460"/>
                </a:moveTo>
                <a:lnTo>
                  <a:pt x="0" y="1409460"/>
                </a:lnTo>
                <a:lnTo>
                  <a:pt x="0" y="0"/>
                </a:lnTo>
                <a:lnTo>
                  <a:pt x="1511486" y="0"/>
                </a:lnTo>
                <a:lnTo>
                  <a:pt x="1511486" y="14094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0" y="7385165"/>
            <a:ext cx="2247471" cy="2901835"/>
          </a:xfrm>
          <a:custGeom>
            <a:avLst/>
            <a:gdLst/>
            <a:ahLst/>
            <a:cxnLst/>
            <a:rect r="r" b="b" t="t" l="l"/>
            <a:pathLst>
              <a:path h="2901835" w="2247471">
                <a:moveTo>
                  <a:pt x="2247471" y="0"/>
                </a:moveTo>
                <a:lnTo>
                  <a:pt x="0" y="0"/>
                </a:lnTo>
                <a:lnTo>
                  <a:pt x="0" y="2901835"/>
                </a:lnTo>
                <a:lnTo>
                  <a:pt x="2247471" y="2901835"/>
                </a:lnTo>
                <a:lnTo>
                  <a:pt x="22474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085078" y="2274435"/>
            <a:ext cx="3399858" cy="1025525"/>
          </a:xfrm>
          <a:prstGeom prst="rect">
            <a:avLst/>
          </a:prstGeom>
        </p:spPr>
        <p:txBody>
          <a:bodyPr anchor="t" rtlCol="false" tIns="0" lIns="0" bIns="0" rIns="0">
            <a:spAutoFit/>
          </a:bodyPr>
          <a:lstStyle/>
          <a:p>
            <a:pPr algn="l">
              <a:lnSpc>
                <a:spcPts val="8125"/>
              </a:lnSpc>
            </a:pPr>
            <a:r>
              <a:rPr lang="en-US" sz="6500">
                <a:solidFill>
                  <a:srgbClr val="16BEC7"/>
                </a:solidFill>
                <a:latin typeface="League Spartan"/>
                <a:ea typeface="League Spartan"/>
                <a:cs typeface="League Spartan"/>
                <a:sym typeface="League Spartan"/>
              </a:rPr>
              <a:t>Q &amp; A</a:t>
            </a:r>
          </a:p>
        </p:txBody>
      </p:sp>
      <p:grpSp>
        <p:nvGrpSpPr>
          <p:cNvPr name="Group 6" id="6"/>
          <p:cNvGrpSpPr/>
          <p:nvPr/>
        </p:nvGrpSpPr>
        <p:grpSpPr>
          <a:xfrm rot="-5400000">
            <a:off x="14677440" y="1857895"/>
            <a:ext cx="5661931" cy="909280"/>
            <a:chOff x="0" y="0"/>
            <a:chExt cx="1491208" cy="239481"/>
          </a:xfrm>
        </p:grpSpPr>
        <p:sp>
          <p:nvSpPr>
            <p:cNvPr name="Freeform 7" id="7"/>
            <p:cNvSpPr/>
            <p:nvPr/>
          </p:nvSpPr>
          <p:spPr>
            <a:xfrm flipH="false" flipV="false" rot="0">
              <a:off x="0" y="0"/>
              <a:ext cx="1491208" cy="239481"/>
            </a:xfrm>
            <a:custGeom>
              <a:avLst/>
              <a:gdLst/>
              <a:ahLst/>
              <a:cxnLst/>
              <a:rect r="r" b="b" t="t" l="l"/>
              <a:pathLst>
                <a:path h="239481" w="1491208">
                  <a:moveTo>
                    <a:pt x="0" y="0"/>
                  </a:moveTo>
                  <a:lnTo>
                    <a:pt x="1491208" y="0"/>
                  </a:lnTo>
                  <a:lnTo>
                    <a:pt x="1491208" y="239481"/>
                  </a:lnTo>
                  <a:lnTo>
                    <a:pt x="0" y="239481"/>
                  </a:lnTo>
                  <a:close/>
                </a:path>
              </a:pathLst>
            </a:custGeom>
            <a:solidFill>
              <a:srgbClr val="16BEC7"/>
            </a:solidFill>
          </p:spPr>
        </p:sp>
        <p:sp>
          <p:nvSpPr>
            <p:cNvPr name="TextBox 8" id="8"/>
            <p:cNvSpPr txBox="true"/>
            <p:nvPr/>
          </p:nvSpPr>
          <p:spPr>
            <a:xfrm>
              <a:off x="0" y="-47625"/>
              <a:ext cx="1491208" cy="287106"/>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5400000">
            <a:off x="15370757" y="2226257"/>
            <a:ext cx="5509531" cy="324955"/>
            <a:chOff x="0" y="0"/>
            <a:chExt cx="1451070" cy="85585"/>
          </a:xfrm>
        </p:grpSpPr>
        <p:sp>
          <p:nvSpPr>
            <p:cNvPr name="Freeform 10" id="10"/>
            <p:cNvSpPr/>
            <p:nvPr/>
          </p:nvSpPr>
          <p:spPr>
            <a:xfrm flipH="false" flipV="false" rot="0">
              <a:off x="0" y="0"/>
              <a:ext cx="1451070" cy="85585"/>
            </a:xfrm>
            <a:custGeom>
              <a:avLst/>
              <a:gdLst/>
              <a:ahLst/>
              <a:cxnLst/>
              <a:rect r="r" b="b" t="t" l="l"/>
              <a:pathLst>
                <a:path h="85585" w="1451070">
                  <a:moveTo>
                    <a:pt x="0" y="0"/>
                  </a:moveTo>
                  <a:lnTo>
                    <a:pt x="1451070" y="0"/>
                  </a:lnTo>
                  <a:lnTo>
                    <a:pt x="1451070" y="85585"/>
                  </a:lnTo>
                  <a:lnTo>
                    <a:pt x="0" y="85585"/>
                  </a:lnTo>
                  <a:close/>
                </a:path>
              </a:pathLst>
            </a:custGeom>
            <a:solidFill>
              <a:srgbClr val="CFC5C4"/>
            </a:solidFill>
          </p:spPr>
        </p:sp>
        <p:sp>
          <p:nvSpPr>
            <p:cNvPr name="TextBox 11" id="11"/>
            <p:cNvSpPr txBox="true"/>
            <p:nvPr/>
          </p:nvSpPr>
          <p:spPr>
            <a:xfrm>
              <a:off x="0" y="-47625"/>
              <a:ext cx="1451070" cy="133210"/>
            </a:xfrm>
            <a:prstGeom prst="rect">
              <a:avLst/>
            </a:prstGeom>
          </p:spPr>
          <p:txBody>
            <a:bodyPr anchor="ctr" rtlCol="false" tIns="50800" lIns="50800" bIns="50800" rIns="50800"/>
            <a:lstStyle/>
            <a:p>
              <a:pPr algn="ctr">
                <a:lnSpc>
                  <a:spcPts val="3359"/>
                </a:lnSpc>
              </a:pPr>
            </a:p>
          </p:txBody>
        </p:sp>
      </p:grpSp>
      <p:sp>
        <p:nvSpPr>
          <p:cNvPr name="Freeform 12" id="12"/>
          <p:cNvSpPr/>
          <p:nvPr/>
        </p:nvSpPr>
        <p:spPr>
          <a:xfrm flipH="false" flipV="false" rot="0">
            <a:off x="861826" y="5800248"/>
            <a:ext cx="333749" cy="321612"/>
          </a:xfrm>
          <a:custGeom>
            <a:avLst/>
            <a:gdLst/>
            <a:ahLst/>
            <a:cxnLst/>
            <a:rect r="r" b="b" t="t" l="l"/>
            <a:pathLst>
              <a:path h="321612" w="333749">
                <a:moveTo>
                  <a:pt x="0" y="0"/>
                </a:moveTo>
                <a:lnTo>
                  <a:pt x="333748" y="0"/>
                </a:lnTo>
                <a:lnTo>
                  <a:pt x="333748" y="321612"/>
                </a:lnTo>
                <a:lnTo>
                  <a:pt x="0" y="3216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961937" y="947715"/>
            <a:ext cx="558420" cy="610539"/>
          </a:xfrm>
          <a:custGeom>
            <a:avLst/>
            <a:gdLst/>
            <a:ahLst/>
            <a:cxnLst/>
            <a:rect r="r" b="b" t="t" l="l"/>
            <a:pathLst>
              <a:path h="610539" w="558420">
                <a:moveTo>
                  <a:pt x="0" y="0"/>
                </a:moveTo>
                <a:lnTo>
                  <a:pt x="558420" y="0"/>
                </a:lnTo>
                <a:lnTo>
                  <a:pt x="558420" y="610539"/>
                </a:lnTo>
                <a:lnTo>
                  <a:pt x="0" y="610539"/>
                </a:lnTo>
                <a:lnTo>
                  <a:pt x="0" y="0"/>
                </a:lnTo>
                <a:close/>
              </a:path>
            </a:pathLst>
          </a:custGeom>
          <a:blipFill>
            <a:blip r:embed="rId9"/>
            <a:stretch>
              <a:fillRect l="0" t="0" r="0" b="0"/>
            </a:stretch>
          </a:blipFill>
        </p:spPr>
      </p:sp>
      <p:sp>
        <p:nvSpPr>
          <p:cNvPr name="TextBox 14" id="14"/>
          <p:cNvSpPr txBox="true"/>
          <p:nvPr/>
        </p:nvSpPr>
        <p:spPr>
          <a:xfrm rot="0">
            <a:off x="1764831" y="1076666"/>
            <a:ext cx="3952205" cy="405765"/>
          </a:xfrm>
          <a:prstGeom prst="rect">
            <a:avLst/>
          </a:prstGeom>
        </p:spPr>
        <p:txBody>
          <a:bodyPr anchor="t" rtlCol="false" tIns="0" lIns="0" bIns="0" rIns="0">
            <a:spAutoFit/>
          </a:bodyPr>
          <a:lstStyle/>
          <a:p>
            <a:pPr algn="l">
              <a:lnSpc>
                <a:spcPts val="3359"/>
              </a:lnSpc>
            </a:pPr>
            <a:r>
              <a:rPr lang="en-US" sz="2400">
                <a:solidFill>
                  <a:srgbClr val="182B5C"/>
                </a:solidFill>
                <a:latin typeface="Source Sans Pro"/>
                <a:ea typeface="Source Sans Pro"/>
                <a:cs typeface="Source Sans Pro"/>
                <a:sym typeface="Source Sans Pro"/>
              </a:rPr>
              <a:t>INSTITUT TEKNOLOGI DEL</a:t>
            </a:r>
          </a:p>
        </p:txBody>
      </p:sp>
      <p:sp>
        <p:nvSpPr>
          <p:cNvPr name="TextBox 15" id="15"/>
          <p:cNvSpPr txBox="true"/>
          <p:nvPr/>
        </p:nvSpPr>
        <p:spPr>
          <a:xfrm rot="0">
            <a:off x="15784817" y="9105900"/>
            <a:ext cx="1909247" cy="626072"/>
          </a:xfrm>
          <a:prstGeom prst="rect">
            <a:avLst/>
          </a:prstGeom>
        </p:spPr>
        <p:txBody>
          <a:bodyPr anchor="t" rtlCol="false" tIns="0" lIns="0" bIns="0" rIns="0">
            <a:spAutoFit/>
          </a:bodyPr>
          <a:lstStyle/>
          <a:p>
            <a:pPr algn="ctr">
              <a:lnSpc>
                <a:spcPts val="5177"/>
              </a:lnSpc>
            </a:pPr>
            <a:r>
              <a:rPr lang="en-US" sz="3697">
                <a:solidFill>
                  <a:srgbClr val="CFC5C4"/>
                </a:solidFill>
                <a:latin typeface="League Spartan"/>
                <a:ea typeface="League Spartan"/>
                <a:cs typeface="League Spartan"/>
                <a:sym typeface="League Spartan"/>
              </a:rPr>
              <a:t>07</a:t>
            </a:r>
          </a:p>
        </p:txBody>
      </p:sp>
      <p:sp>
        <p:nvSpPr>
          <p:cNvPr name="TextBox 16" id="16"/>
          <p:cNvSpPr txBox="true"/>
          <p:nvPr/>
        </p:nvSpPr>
        <p:spPr>
          <a:xfrm rot="0">
            <a:off x="4525507" y="4981575"/>
            <a:ext cx="10662400" cy="1475421"/>
          </a:xfrm>
          <a:prstGeom prst="rect">
            <a:avLst/>
          </a:prstGeom>
        </p:spPr>
        <p:txBody>
          <a:bodyPr anchor="t" rtlCol="false" tIns="0" lIns="0" bIns="0" rIns="0">
            <a:spAutoFit/>
          </a:bodyPr>
          <a:lstStyle/>
          <a:p>
            <a:pPr algn="just">
              <a:lnSpc>
                <a:spcPts val="12127"/>
              </a:lnSpc>
            </a:pPr>
            <a:r>
              <a:rPr lang="en-US" sz="8662" b="true">
                <a:solidFill>
                  <a:srgbClr val="000000"/>
                </a:solidFill>
                <a:latin typeface="Source Sans Pro Bold"/>
                <a:ea typeface="Source Sans Pro Bold"/>
                <a:cs typeface="Source Sans Pro Bold"/>
                <a:sym typeface="Source Sans Pro Bold"/>
              </a:rPr>
              <a:t>ANY QUESTIONS?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true" flipV="true" rot="0">
            <a:off x="16182578" y="8582145"/>
            <a:ext cx="1511485" cy="1409460"/>
          </a:xfrm>
          <a:custGeom>
            <a:avLst/>
            <a:gdLst/>
            <a:ahLst/>
            <a:cxnLst/>
            <a:rect r="r" b="b" t="t" l="l"/>
            <a:pathLst>
              <a:path h="1409460" w="1511485">
                <a:moveTo>
                  <a:pt x="1511486" y="1409460"/>
                </a:moveTo>
                <a:lnTo>
                  <a:pt x="0" y="1409460"/>
                </a:lnTo>
                <a:lnTo>
                  <a:pt x="0" y="0"/>
                </a:lnTo>
                <a:lnTo>
                  <a:pt x="1511486" y="0"/>
                </a:lnTo>
                <a:lnTo>
                  <a:pt x="1511486" y="14094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764831" y="1076666"/>
            <a:ext cx="3952205" cy="405765"/>
          </a:xfrm>
          <a:prstGeom prst="rect">
            <a:avLst/>
          </a:prstGeom>
        </p:spPr>
        <p:txBody>
          <a:bodyPr anchor="t" rtlCol="false" tIns="0" lIns="0" bIns="0" rIns="0">
            <a:spAutoFit/>
          </a:bodyPr>
          <a:lstStyle/>
          <a:p>
            <a:pPr algn="l">
              <a:lnSpc>
                <a:spcPts val="3359"/>
              </a:lnSpc>
            </a:pPr>
            <a:r>
              <a:rPr lang="en-US" sz="2400">
                <a:solidFill>
                  <a:srgbClr val="005359"/>
                </a:solidFill>
                <a:latin typeface="Source Sans Pro"/>
                <a:ea typeface="Source Sans Pro"/>
                <a:cs typeface="Source Sans Pro"/>
                <a:sym typeface="Source Sans Pro"/>
              </a:rPr>
              <a:t>INSTITUT TEKNOLOGI DEL</a:t>
            </a:r>
          </a:p>
        </p:txBody>
      </p:sp>
      <p:sp>
        <p:nvSpPr>
          <p:cNvPr name="TextBox 5" id="5"/>
          <p:cNvSpPr txBox="true"/>
          <p:nvPr/>
        </p:nvSpPr>
        <p:spPr>
          <a:xfrm rot="0">
            <a:off x="15784817" y="9105900"/>
            <a:ext cx="1909247" cy="626072"/>
          </a:xfrm>
          <a:prstGeom prst="rect">
            <a:avLst/>
          </a:prstGeom>
        </p:spPr>
        <p:txBody>
          <a:bodyPr anchor="t" rtlCol="false" tIns="0" lIns="0" bIns="0" rIns="0">
            <a:spAutoFit/>
          </a:bodyPr>
          <a:lstStyle/>
          <a:p>
            <a:pPr algn="ctr">
              <a:lnSpc>
                <a:spcPts val="5177"/>
              </a:lnSpc>
            </a:pPr>
            <a:r>
              <a:rPr lang="en-US" sz="3697">
                <a:solidFill>
                  <a:srgbClr val="CFC5C4"/>
                </a:solidFill>
                <a:latin typeface="League Spartan"/>
                <a:ea typeface="League Spartan"/>
                <a:cs typeface="League Spartan"/>
                <a:sym typeface="League Spartan"/>
              </a:rPr>
              <a:t>11</a:t>
            </a:r>
          </a:p>
        </p:txBody>
      </p:sp>
      <p:sp>
        <p:nvSpPr>
          <p:cNvPr name="Freeform 6" id="6"/>
          <p:cNvSpPr/>
          <p:nvPr/>
        </p:nvSpPr>
        <p:spPr>
          <a:xfrm flipH="false" flipV="true" rot="0">
            <a:off x="13924757" y="0"/>
            <a:ext cx="4363243" cy="5633626"/>
          </a:xfrm>
          <a:custGeom>
            <a:avLst/>
            <a:gdLst/>
            <a:ahLst/>
            <a:cxnLst/>
            <a:rect r="r" b="b" t="t" l="l"/>
            <a:pathLst>
              <a:path h="5633626" w="4363243">
                <a:moveTo>
                  <a:pt x="0" y="5633626"/>
                </a:moveTo>
                <a:lnTo>
                  <a:pt x="4363243" y="5633626"/>
                </a:lnTo>
                <a:lnTo>
                  <a:pt x="4363243" y="0"/>
                </a:lnTo>
                <a:lnTo>
                  <a:pt x="0" y="0"/>
                </a:lnTo>
                <a:lnTo>
                  <a:pt x="0" y="5633626"/>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0">
            <a:off x="0" y="4533175"/>
            <a:ext cx="4363243" cy="5633626"/>
          </a:xfrm>
          <a:custGeom>
            <a:avLst/>
            <a:gdLst/>
            <a:ahLst/>
            <a:cxnLst/>
            <a:rect r="r" b="b" t="t" l="l"/>
            <a:pathLst>
              <a:path h="5633626" w="4363243">
                <a:moveTo>
                  <a:pt x="4363243" y="0"/>
                </a:moveTo>
                <a:lnTo>
                  <a:pt x="0" y="0"/>
                </a:lnTo>
                <a:lnTo>
                  <a:pt x="0" y="5633626"/>
                </a:lnTo>
                <a:lnTo>
                  <a:pt x="4363243" y="5633626"/>
                </a:lnTo>
                <a:lnTo>
                  <a:pt x="436324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503183" y="4476025"/>
            <a:ext cx="13281634" cy="1837177"/>
          </a:xfrm>
          <a:prstGeom prst="rect">
            <a:avLst/>
          </a:prstGeom>
        </p:spPr>
        <p:txBody>
          <a:bodyPr anchor="t" rtlCol="false" tIns="0" lIns="0" bIns="0" rIns="0">
            <a:spAutoFit/>
          </a:bodyPr>
          <a:lstStyle/>
          <a:p>
            <a:pPr algn="ctr">
              <a:lnSpc>
                <a:spcPts val="14634"/>
              </a:lnSpc>
            </a:pPr>
            <a:r>
              <a:rPr lang="en-US" sz="11707">
                <a:solidFill>
                  <a:srgbClr val="005359"/>
                </a:solidFill>
                <a:latin typeface="League Spartan"/>
                <a:ea typeface="League Spartan"/>
                <a:cs typeface="League Spartan"/>
                <a:sym typeface="League Spartan"/>
              </a:rPr>
              <a:t>THANK YOU</a:t>
            </a:r>
          </a:p>
        </p:txBody>
      </p:sp>
      <p:sp>
        <p:nvSpPr>
          <p:cNvPr name="Freeform 9" id="9"/>
          <p:cNvSpPr/>
          <p:nvPr/>
        </p:nvSpPr>
        <p:spPr>
          <a:xfrm flipH="false" flipV="false" rot="0">
            <a:off x="961937" y="947715"/>
            <a:ext cx="558420" cy="610539"/>
          </a:xfrm>
          <a:custGeom>
            <a:avLst/>
            <a:gdLst/>
            <a:ahLst/>
            <a:cxnLst/>
            <a:rect r="r" b="b" t="t" l="l"/>
            <a:pathLst>
              <a:path h="610539" w="558420">
                <a:moveTo>
                  <a:pt x="0" y="0"/>
                </a:moveTo>
                <a:lnTo>
                  <a:pt x="558420" y="0"/>
                </a:lnTo>
                <a:lnTo>
                  <a:pt x="558420" y="610539"/>
                </a:lnTo>
                <a:lnTo>
                  <a:pt x="0" y="610539"/>
                </a:lnTo>
                <a:lnTo>
                  <a:pt x="0" y="0"/>
                </a:lnTo>
                <a:close/>
              </a:path>
            </a:pathLst>
          </a:custGeom>
          <a:blipFill>
            <a:blip r:embed="rId7"/>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DAGnVTtmgUc</dc:identifier>
  <dcterms:modified xsi:type="dcterms:W3CDTF">2011-08-01T06:04:30Z</dcterms:modified>
  <cp:revision>1</cp:revision>
  <dc:title>Hijau Putih Geometris Profesional Seminar Proposal Presentasi</dc:title>
</cp:coreProperties>
</file>